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Borsok" charset="1" panose="02000503000000020002"/>
      <p:regular r:id="rId22"/>
    </p:embeddedFont>
    <p:embeddedFont>
      <p:font typeface="Playpen Sans" charset="1" panose="00000000000000000000"/>
      <p:regular r:id="rId23"/>
    </p:embeddedFont>
    <p:embeddedFont>
      <p:font typeface="Canva Sans Bold" charset="1" panose="020B0803030501040103"/>
      <p:regular r:id="rId24"/>
    </p:embeddedFont>
    <p:embeddedFont>
      <p:font typeface="Playpen Sans Bold" charset="1" panose="000000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svg" Type="http://schemas.openxmlformats.org/officeDocument/2006/relationships/image"/><Relationship Id="rId12" Target="../media/image18.png" Type="http://schemas.openxmlformats.org/officeDocument/2006/relationships/image"/><Relationship Id="rId13" Target="../media/image19.svg" Type="http://schemas.openxmlformats.org/officeDocument/2006/relationships/image"/><Relationship Id="rId14" Target="../media/image20.png" Type="http://schemas.openxmlformats.org/officeDocument/2006/relationships/image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svg" Type="http://schemas.openxmlformats.org/officeDocument/2006/relationships/image"/><Relationship Id="rId12" Target="../media/image16.png" Type="http://schemas.openxmlformats.org/officeDocument/2006/relationships/image"/><Relationship Id="rId13" Target="../media/image17.svg" Type="http://schemas.openxmlformats.org/officeDocument/2006/relationships/image"/><Relationship Id="rId14" Target="../media/image27.png" Type="http://schemas.openxmlformats.org/officeDocument/2006/relationships/image"/><Relationship Id="rId15" Target="../media/image28.svg" Type="http://schemas.openxmlformats.org/officeDocument/2006/relationships/image"/><Relationship Id="rId16" Target="../media/image29.png" Type="http://schemas.openxmlformats.org/officeDocument/2006/relationships/image"/><Relationship Id="rId17" Target="../media/image3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3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3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35.jpeg" Type="http://schemas.openxmlformats.org/officeDocument/2006/relationships/image"/><Relationship Id="rId7" Target="../media/image36.jpeg" Type="http://schemas.openxmlformats.org/officeDocument/2006/relationships/image"/><Relationship Id="rId8" Target="../media/image37.jpeg" Type="http://schemas.openxmlformats.org/officeDocument/2006/relationships/image"/><Relationship Id="rId9" Target="../media/image38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40.jpeg" Type="http://schemas.openxmlformats.org/officeDocument/2006/relationships/image"/><Relationship Id="rId7" Target="../media/image4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4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5.png" Type="http://schemas.openxmlformats.org/officeDocument/2006/relationships/image"/><Relationship Id="rId5" Target="../embeddings/oleObject1.bin" Type="http://schemas.openxmlformats.org/officeDocument/2006/relationships/oleObjec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3.jpeg" Type="http://schemas.openxmlformats.org/officeDocument/2006/relationships/image"/><Relationship Id="rId11" Target="../media/image54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7.png" Type="http://schemas.openxmlformats.org/officeDocument/2006/relationships/image"/><Relationship Id="rId5" Target="../media/image48.svg" Type="http://schemas.openxmlformats.org/officeDocument/2006/relationships/image"/><Relationship Id="rId6" Target="../media/image49.jpeg" Type="http://schemas.openxmlformats.org/officeDocument/2006/relationships/image"/><Relationship Id="rId7" Target="../media/image50.jpeg" Type="http://schemas.openxmlformats.org/officeDocument/2006/relationships/image"/><Relationship Id="rId8" Target="../media/image51.jpeg" Type="http://schemas.openxmlformats.org/officeDocument/2006/relationships/image"/><Relationship Id="rId9" Target="../media/image52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7.png" Type="http://schemas.openxmlformats.org/officeDocument/2006/relationships/image"/><Relationship Id="rId5" Target="../media/image48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2EB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64161" y="-800946"/>
            <a:ext cx="20626303" cy="11602296"/>
          </a:xfrm>
          <a:custGeom>
            <a:avLst/>
            <a:gdLst/>
            <a:ahLst/>
            <a:cxnLst/>
            <a:rect r="r" b="b" t="t" l="l"/>
            <a:pathLst>
              <a:path h="11602296" w="20626303">
                <a:moveTo>
                  <a:pt x="0" y="0"/>
                </a:moveTo>
                <a:lnTo>
                  <a:pt x="20626303" y="0"/>
                </a:lnTo>
                <a:lnTo>
                  <a:pt x="20626303" y="11602296"/>
                </a:lnTo>
                <a:lnTo>
                  <a:pt x="0" y="11602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-164877" y="9258300"/>
            <a:ext cx="18617755" cy="3086100"/>
            <a:chOff x="0" y="0"/>
            <a:chExt cx="4903442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03441" cy="812800"/>
            </a:xfrm>
            <a:custGeom>
              <a:avLst/>
              <a:gdLst/>
              <a:ahLst/>
              <a:cxnLst/>
              <a:rect r="r" b="b" t="t" l="l"/>
              <a:pathLst>
                <a:path h="812800" w="4903441">
                  <a:moveTo>
                    <a:pt x="0" y="0"/>
                  </a:moveTo>
                  <a:lnTo>
                    <a:pt x="4903441" y="0"/>
                  </a:lnTo>
                  <a:lnTo>
                    <a:pt x="490344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7C86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903442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false" rot="0">
            <a:off x="14008129" y="7332880"/>
            <a:ext cx="3986212" cy="4114800"/>
          </a:xfrm>
          <a:custGeom>
            <a:avLst/>
            <a:gdLst/>
            <a:ahLst/>
            <a:cxnLst/>
            <a:rect r="r" b="b" t="t" l="l"/>
            <a:pathLst>
              <a:path h="4114800" w="3986212">
                <a:moveTo>
                  <a:pt x="3986213" y="0"/>
                </a:moveTo>
                <a:lnTo>
                  <a:pt x="0" y="0"/>
                </a:lnTo>
                <a:lnTo>
                  <a:pt x="0" y="4114800"/>
                </a:lnTo>
                <a:lnTo>
                  <a:pt x="3986213" y="4114800"/>
                </a:lnTo>
                <a:lnTo>
                  <a:pt x="398621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2251627">
            <a:off x="8277812" y="-816882"/>
            <a:ext cx="1732376" cy="2974036"/>
          </a:xfrm>
          <a:custGeom>
            <a:avLst/>
            <a:gdLst/>
            <a:ahLst/>
            <a:cxnLst/>
            <a:rect r="r" b="b" t="t" l="l"/>
            <a:pathLst>
              <a:path h="2974036" w="1732376">
                <a:moveTo>
                  <a:pt x="0" y="0"/>
                </a:moveTo>
                <a:lnTo>
                  <a:pt x="1732376" y="0"/>
                </a:lnTo>
                <a:lnTo>
                  <a:pt x="1732376" y="2974037"/>
                </a:lnTo>
                <a:lnTo>
                  <a:pt x="0" y="29740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2070550">
            <a:off x="-980173" y="7648065"/>
            <a:ext cx="2660838" cy="3484431"/>
          </a:xfrm>
          <a:custGeom>
            <a:avLst/>
            <a:gdLst/>
            <a:ahLst/>
            <a:cxnLst/>
            <a:rect r="r" b="b" t="t" l="l"/>
            <a:pathLst>
              <a:path h="3484431" w="2660838">
                <a:moveTo>
                  <a:pt x="0" y="3484431"/>
                </a:moveTo>
                <a:lnTo>
                  <a:pt x="2660838" y="3484431"/>
                </a:lnTo>
                <a:lnTo>
                  <a:pt x="2660838" y="0"/>
                </a:lnTo>
                <a:lnTo>
                  <a:pt x="0" y="0"/>
                </a:lnTo>
                <a:lnTo>
                  <a:pt x="0" y="3484431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3025277">
            <a:off x="14341925" y="-961740"/>
            <a:ext cx="4869578" cy="3980880"/>
          </a:xfrm>
          <a:custGeom>
            <a:avLst/>
            <a:gdLst/>
            <a:ahLst/>
            <a:cxnLst/>
            <a:rect r="r" b="b" t="t" l="l"/>
            <a:pathLst>
              <a:path h="3980880" w="4869578">
                <a:moveTo>
                  <a:pt x="0" y="0"/>
                </a:moveTo>
                <a:lnTo>
                  <a:pt x="4869579" y="0"/>
                </a:lnTo>
                <a:lnTo>
                  <a:pt x="4869579" y="3980880"/>
                </a:lnTo>
                <a:lnTo>
                  <a:pt x="0" y="39808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78761" y="3845399"/>
            <a:ext cx="14222475" cy="1772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97"/>
              </a:lnSpc>
            </a:pPr>
            <a:r>
              <a:rPr lang="en-US" sz="6797">
                <a:solidFill>
                  <a:srgbClr val="2A5F01"/>
                </a:solidFill>
                <a:latin typeface="Borsok"/>
                <a:ea typeface="Borsok"/>
                <a:cs typeface="Borsok"/>
                <a:sym typeface="Borsok"/>
              </a:rPr>
              <a:t>AI-POWERED PERSONALIZED MEAL PLANNER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27446" y="5521583"/>
            <a:ext cx="13763229" cy="1581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8"/>
              </a:lnSpc>
            </a:pPr>
            <a:r>
              <a:rPr lang="en-US" sz="4298">
                <a:solidFill>
                  <a:srgbClr val="A7C868"/>
                </a:solidFill>
                <a:latin typeface="Borsok"/>
                <a:ea typeface="Borsok"/>
                <a:cs typeface="Borsok"/>
                <a:sym typeface="Borsok"/>
              </a:rPr>
              <a:t>DATA 606: CAPSTONE IN DATA SCIENCE</a:t>
            </a:r>
          </a:p>
          <a:p>
            <a:pPr algn="ctr">
              <a:lnSpc>
                <a:spcPts val="3998"/>
              </a:lnSpc>
            </a:pPr>
            <a:r>
              <a:rPr lang="en-US" sz="3998">
                <a:solidFill>
                  <a:srgbClr val="7F994F"/>
                </a:solidFill>
                <a:latin typeface="Playpen Sans"/>
                <a:ea typeface="Playpen Sans"/>
                <a:cs typeface="Playpen Sans"/>
                <a:sym typeface="Playpen Sans"/>
              </a:rPr>
              <a:t>Presented by: Madhu Priya P</a:t>
            </a:r>
          </a:p>
          <a:p>
            <a:pPr algn="ctr">
              <a:lnSpc>
                <a:spcPts val="3998"/>
              </a:lnSpc>
            </a:pPr>
            <a:r>
              <a:rPr lang="en-US" sz="3998">
                <a:solidFill>
                  <a:srgbClr val="7F994F"/>
                </a:solidFill>
                <a:latin typeface="Playpen Sans"/>
                <a:ea typeface="Playpen Sans"/>
                <a:cs typeface="Playpen Sans"/>
                <a:sym typeface="Playpen Sans"/>
              </a:rPr>
              <a:t>Under the Guidance of Dr. Chaojie Wang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2EB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941050" y="8040567"/>
            <a:ext cx="3419820" cy="2354824"/>
          </a:xfrm>
          <a:custGeom>
            <a:avLst/>
            <a:gdLst/>
            <a:ahLst/>
            <a:cxnLst/>
            <a:rect r="r" b="b" t="t" l="l"/>
            <a:pathLst>
              <a:path h="2354824" w="3419820">
                <a:moveTo>
                  <a:pt x="0" y="0"/>
                </a:moveTo>
                <a:lnTo>
                  <a:pt x="3419820" y="0"/>
                </a:lnTo>
                <a:lnTo>
                  <a:pt x="3419820" y="2354824"/>
                </a:lnTo>
                <a:lnTo>
                  <a:pt x="0" y="2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169152" y="-657648"/>
            <a:ext cx="20626303" cy="11602296"/>
          </a:xfrm>
          <a:custGeom>
            <a:avLst/>
            <a:gdLst/>
            <a:ahLst/>
            <a:cxnLst/>
            <a:rect r="r" b="b" t="t" l="l"/>
            <a:pathLst>
              <a:path h="11602296" w="20626303">
                <a:moveTo>
                  <a:pt x="0" y="0"/>
                </a:moveTo>
                <a:lnTo>
                  <a:pt x="20626304" y="0"/>
                </a:lnTo>
                <a:lnTo>
                  <a:pt x="20626304" y="11602296"/>
                </a:lnTo>
                <a:lnTo>
                  <a:pt x="0" y="116022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7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-6336700" y="6580967"/>
            <a:ext cx="13851879" cy="6856902"/>
            <a:chOff x="0" y="0"/>
            <a:chExt cx="812800" cy="4023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402349"/>
            </a:xfrm>
            <a:custGeom>
              <a:avLst/>
              <a:gdLst/>
              <a:ahLst/>
              <a:cxnLst/>
              <a:rect r="r" b="b" t="t" l="l"/>
              <a:pathLst>
                <a:path h="402349" w="812800">
                  <a:moveTo>
                    <a:pt x="406400" y="0"/>
                  </a:moveTo>
                  <a:cubicBezTo>
                    <a:pt x="181951" y="0"/>
                    <a:pt x="0" y="90069"/>
                    <a:pt x="0" y="201175"/>
                  </a:cubicBezTo>
                  <a:cubicBezTo>
                    <a:pt x="0" y="312280"/>
                    <a:pt x="181951" y="402349"/>
                    <a:pt x="406400" y="402349"/>
                  </a:cubicBezTo>
                  <a:cubicBezTo>
                    <a:pt x="630849" y="402349"/>
                    <a:pt x="812800" y="312280"/>
                    <a:pt x="812800" y="201175"/>
                  </a:cubicBezTo>
                  <a:cubicBezTo>
                    <a:pt x="812800" y="90069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7C868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-380"/>
              <a:ext cx="660400" cy="3650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3991927">
            <a:off x="583349" y="5315467"/>
            <a:ext cx="2660838" cy="3484431"/>
          </a:xfrm>
          <a:custGeom>
            <a:avLst/>
            <a:gdLst/>
            <a:ahLst/>
            <a:cxnLst/>
            <a:rect r="r" b="b" t="t" l="l"/>
            <a:pathLst>
              <a:path h="3484431" w="2660838">
                <a:moveTo>
                  <a:pt x="0" y="0"/>
                </a:moveTo>
                <a:lnTo>
                  <a:pt x="2660838" y="0"/>
                </a:lnTo>
                <a:lnTo>
                  <a:pt x="2660838" y="3484430"/>
                </a:lnTo>
                <a:lnTo>
                  <a:pt x="0" y="34844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604603" y="443280"/>
            <a:ext cx="2696564" cy="2294531"/>
          </a:xfrm>
          <a:custGeom>
            <a:avLst/>
            <a:gdLst/>
            <a:ahLst/>
            <a:cxnLst/>
            <a:rect r="r" b="b" t="t" l="l"/>
            <a:pathLst>
              <a:path h="2294531" w="2696564">
                <a:moveTo>
                  <a:pt x="0" y="0"/>
                </a:moveTo>
                <a:lnTo>
                  <a:pt x="2696564" y="0"/>
                </a:lnTo>
                <a:lnTo>
                  <a:pt x="2696564" y="2294530"/>
                </a:lnTo>
                <a:lnTo>
                  <a:pt x="0" y="22945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149636" y="-375871"/>
            <a:ext cx="2219329" cy="2235587"/>
          </a:xfrm>
          <a:custGeom>
            <a:avLst/>
            <a:gdLst/>
            <a:ahLst/>
            <a:cxnLst/>
            <a:rect r="r" b="b" t="t" l="l"/>
            <a:pathLst>
              <a:path h="2235587" w="2219329">
                <a:moveTo>
                  <a:pt x="0" y="0"/>
                </a:moveTo>
                <a:lnTo>
                  <a:pt x="2219328" y="0"/>
                </a:lnTo>
                <a:lnTo>
                  <a:pt x="2219328" y="2235587"/>
                </a:lnTo>
                <a:lnTo>
                  <a:pt x="0" y="223558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1176280">
            <a:off x="15858830" y="8359341"/>
            <a:ext cx="2204083" cy="1759259"/>
          </a:xfrm>
          <a:custGeom>
            <a:avLst/>
            <a:gdLst/>
            <a:ahLst/>
            <a:cxnLst/>
            <a:rect r="r" b="b" t="t" l="l"/>
            <a:pathLst>
              <a:path h="1759259" w="2204083">
                <a:moveTo>
                  <a:pt x="0" y="0"/>
                </a:moveTo>
                <a:lnTo>
                  <a:pt x="2204082" y="0"/>
                </a:lnTo>
                <a:lnTo>
                  <a:pt x="2204082" y="1759259"/>
                </a:lnTo>
                <a:lnTo>
                  <a:pt x="0" y="175925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650960" y="8971864"/>
            <a:ext cx="1309910" cy="1051203"/>
          </a:xfrm>
          <a:custGeom>
            <a:avLst/>
            <a:gdLst/>
            <a:ahLst/>
            <a:cxnLst/>
            <a:rect r="r" b="b" t="t" l="l"/>
            <a:pathLst>
              <a:path h="1051203" w="1309910">
                <a:moveTo>
                  <a:pt x="0" y="0"/>
                </a:moveTo>
                <a:lnTo>
                  <a:pt x="1309911" y="0"/>
                </a:lnTo>
                <a:lnTo>
                  <a:pt x="1309911" y="1051203"/>
                </a:lnTo>
                <a:lnTo>
                  <a:pt x="0" y="105120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593557" y="2219989"/>
            <a:ext cx="11470524" cy="1479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989"/>
              </a:lnSpc>
              <a:spcBef>
                <a:spcPct val="0"/>
              </a:spcBef>
            </a:pPr>
            <a:r>
              <a:rPr lang="en-US" sz="10989">
                <a:solidFill>
                  <a:srgbClr val="2A5F01"/>
                </a:solidFill>
                <a:latin typeface="Borsok"/>
                <a:ea typeface="Borsok"/>
                <a:cs typeface="Borsok"/>
                <a:sym typeface="Borsok"/>
              </a:rPr>
              <a:t>INTRODUCTION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034325" y="3495089"/>
            <a:ext cx="11748564" cy="4281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6872" indent="-318436" lvl="1">
              <a:lnSpc>
                <a:spcPts val="3805"/>
              </a:lnSpc>
              <a:buFont typeface="Arial"/>
              <a:buChar char="•"/>
            </a:pPr>
            <a:r>
              <a:rPr lang="en-US" sz="2949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The AI-P</a:t>
            </a:r>
            <a:r>
              <a:rPr lang="en-US" sz="2949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owered Meal </a:t>
            </a:r>
            <a:r>
              <a:rPr lang="en-US" sz="2949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P</a:t>
            </a:r>
            <a:r>
              <a:rPr lang="en-US" sz="2949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lanner</a:t>
            </a:r>
            <a:r>
              <a:rPr lang="en-US" sz="2949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 generate</a:t>
            </a:r>
            <a:r>
              <a:rPr lang="en-US" sz="2949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s pers</a:t>
            </a:r>
            <a:r>
              <a:rPr lang="en-US" sz="2949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onaliz</a:t>
            </a:r>
            <a:r>
              <a:rPr lang="en-US" sz="2949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e</a:t>
            </a:r>
            <a:r>
              <a:rPr lang="en-US" sz="2949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d</a:t>
            </a:r>
            <a:r>
              <a:rPr lang="en-US" sz="2949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 </a:t>
            </a:r>
            <a:r>
              <a:rPr lang="en-US" sz="2949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d</a:t>
            </a:r>
            <a:r>
              <a:rPr lang="en-US" sz="2949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ai</a:t>
            </a:r>
            <a:r>
              <a:rPr lang="en-US" sz="2949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ly</a:t>
            </a:r>
            <a:r>
              <a:rPr lang="en-US" sz="2949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 meal plans based on calorie n</a:t>
            </a:r>
            <a:r>
              <a:rPr lang="en-US" sz="2949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e</a:t>
            </a:r>
            <a:r>
              <a:rPr lang="en-US" sz="2949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eds</a:t>
            </a:r>
            <a:r>
              <a:rPr lang="en-US" sz="2949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 a</a:t>
            </a:r>
            <a:r>
              <a:rPr lang="en-US" sz="2949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n</a:t>
            </a:r>
            <a:r>
              <a:rPr lang="en-US" sz="2949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d</a:t>
            </a:r>
            <a:r>
              <a:rPr lang="en-US" sz="2949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 nutri</a:t>
            </a:r>
            <a:r>
              <a:rPr lang="en-US" sz="2949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ti</a:t>
            </a:r>
            <a:r>
              <a:rPr lang="en-US" sz="2949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ona</a:t>
            </a:r>
            <a:r>
              <a:rPr lang="en-US" sz="2949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l </a:t>
            </a:r>
            <a:r>
              <a:rPr lang="en-US" sz="2949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g</a:t>
            </a:r>
            <a:r>
              <a:rPr lang="en-US" sz="2949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oa</a:t>
            </a:r>
            <a:r>
              <a:rPr lang="en-US" sz="2949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ls.</a:t>
            </a:r>
          </a:p>
          <a:p>
            <a:pPr algn="l" marL="636872" indent="-318436" lvl="1">
              <a:lnSpc>
                <a:spcPts val="3805"/>
              </a:lnSpc>
              <a:buFont typeface="Arial"/>
              <a:buChar char="•"/>
            </a:pPr>
            <a:r>
              <a:rPr lang="en-US" sz="2949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U</a:t>
            </a:r>
            <a:r>
              <a:rPr lang="en-US" sz="2949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ses</a:t>
            </a:r>
            <a:r>
              <a:rPr lang="en-US" sz="2949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 un</a:t>
            </a:r>
            <a:r>
              <a:rPr lang="en-US" sz="2949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s</a:t>
            </a:r>
            <a:r>
              <a:rPr lang="en-US" sz="2949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u</a:t>
            </a:r>
            <a:r>
              <a:rPr lang="en-US" sz="2949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pe</a:t>
            </a:r>
            <a:r>
              <a:rPr lang="en-US" sz="2949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rv</a:t>
            </a:r>
            <a:r>
              <a:rPr lang="en-US" sz="2949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i</a:t>
            </a:r>
            <a:r>
              <a:rPr lang="en-US" sz="2949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sed</a:t>
            </a:r>
            <a:r>
              <a:rPr lang="en-US" sz="2949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 learning (clustering) to group foods into meaningful nutritional c</a:t>
            </a:r>
            <a:r>
              <a:rPr lang="en-US" sz="2949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ategori</a:t>
            </a:r>
            <a:r>
              <a:rPr lang="en-US" sz="2949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es.</a:t>
            </a:r>
          </a:p>
          <a:p>
            <a:pPr algn="l" marL="636872" indent="-318436" lvl="1">
              <a:lnSpc>
                <a:spcPts val="3805"/>
              </a:lnSpc>
              <a:buFont typeface="Arial"/>
              <a:buChar char="•"/>
            </a:pPr>
            <a:r>
              <a:rPr lang="en-US" sz="2949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Emplo</a:t>
            </a:r>
            <a:r>
              <a:rPr lang="en-US" sz="2949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y</a:t>
            </a:r>
            <a:r>
              <a:rPr lang="en-US" sz="2949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s</a:t>
            </a:r>
            <a:r>
              <a:rPr lang="en-US" sz="2949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 </a:t>
            </a:r>
            <a:r>
              <a:rPr lang="en-US" sz="2949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a OLLAMA to g</a:t>
            </a:r>
            <a:r>
              <a:rPr lang="en-US" sz="2949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enerate customized meal plans, recipes, and grocery lists</a:t>
            </a:r>
            <a:r>
              <a:rPr lang="en-US" sz="2949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.</a:t>
            </a:r>
          </a:p>
          <a:p>
            <a:pPr algn="l" marL="636872" indent="-318436" lvl="1">
              <a:lnSpc>
                <a:spcPts val="3805"/>
              </a:lnSpc>
              <a:buFont typeface="Arial"/>
              <a:buChar char="•"/>
            </a:pPr>
            <a:r>
              <a:rPr lang="en-US" sz="2949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Ou</a:t>
            </a:r>
            <a:r>
              <a:rPr lang="en-US" sz="2949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tputs include recipe suggest</a:t>
            </a:r>
            <a:r>
              <a:rPr lang="en-US" sz="2949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ions, groc</a:t>
            </a:r>
            <a:r>
              <a:rPr lang="en-US" sz="2949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ery lists, and a macros donut chart for balanced nutrition.</a:t>
            </a:r>
          </a:p>
          <a:p>
            <a:pPr algn="l">
              <a:lnSpc>
                <a:spcPts val="3805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2EB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69152" y="-1172400"/>
            <a:ext cx="20626303" cy="11602296"/>
          </a:xfrm>
          <a:custGeom>
            <a:avLst/>
            <a:gdLst/>
            <a:ahLst/>
            <a:cxnLst/>
            <a:rect r="r" b="b" t="t" l="l"/>
            <a:pathLst>
              <a:path h="11602296" w="20626303">
                <a:moveTo>
                  <a:pt x="0" y="0"/>
                </a:moveTo>
                <a:lnTo>
                  <a:pt x="20626304" y="0"/>
                </a:lnTo>
                <a:lnTo>
                  <a:pt x="20626304" y="11602296"/>
                </a:lnTo>
                <a:lnTo>
                  <a:pt x="0" y="11602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848486" y="3940349"/>
            <a:ext cx="699278" cy="704401"/>
          </a:xfrm>
          <a:custGeom>
            <a:avLst/>
            <a:gdLst/>
            <a:ahLst/>
            <a:cxnLst/>
            <a:rect r="r" b="b" t="t" l="l"/>
            <a:pathLst>
              <a:path h="704401" w="699278">
                <a:moveTo>
                  <a:pt x="0" y="0"/>
                </a:moveTo>
                <a:lnTo>
                  <a:pt x="699278" y="0"/>
                </a:lnTo>
                <a:lnTo>
                  <a:pt x="699278" y="704402"/>
                </a:lnTo>
                <a:lnTo>
                  <a:pt x="0" y="7044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48486" y="4996540"/>
            <a:ext cx="699278" cy="704401"/>
          </a:xfrm>
          <a:custGeom>
            <a:avLst/>
            <a:gdLst/>
            <a:ahLst/>
            <a:cxnLst/>
            <a:rect r="r" b="b" t="t" l="l"/>
            <a:pathLst>
              <a:path h="704401" w="699278">
                <a:moveTo>
                  <a:pt x="0" y="0"/>
                </a:moveTo>
                <a:lnTo>
                  <a:pt x="699278" y="0"/>
                </a:lnTo>
                <a:lnTo>
                  <a:pt x="699278" y="704401"/>
                </a:lnTo>
                <a:lnTo>
                  <a:pt x="0" y="7044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848486" y="6052730"/>
            <a:ext cx="699278" cy="704401"/>
          </a:xfrm>
          <a:custGeom>
            <a:avLst/>
            <a:gdLst/>
            <a:ahLst/>
            <a:cxnLst/>
            <a:rect r="r" b="b" t="t" l="l"/>
            <a:pathLst>
              <a:path h="704401" w="699278">
                <a:moveTo>
                  <a:pt x="0" y="0"/>
                </a:moveTo>
                <a:lnTo>
                  <a:pt x="699278" y="0"/>
                </a:lnTo>
                <a:lnTo>
                  <a:pt x="699278" y="704401"/>
                </a:lnTo>
                <a:lnTo>
                  <a:pt x="0" y="7044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667193" y="8755137"/>
            <a:ext cx="20546265" cy="3125739"/>
            <a:chOff x="0" y="0"/>
            <a:chExt cx="1205613" cy="1834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05613" cy="183412"/>
            </a:xfrm>
            <a:custGeom>
              <a:avLst/>
              <a:gdLst/>
              <a:ahLst/>
              <a:cxnLst/>
              <a:rect r="r" b="b" t="t" l="l"/>
              <a:pathLst>
                <a:path h="183412" w="1205613">
                  <a:moveTo>
                    <a:pt x="602806" y="0"/>
                  </a:moveTo>
                  <a:cubicBezTo>
                    <a:pt x="269886" y="0"/>
                    <a:pt x="0" y="41058"/>
                    <a:pt x="0" y="91706"/>
                  </a:cubicBezTo>
                  <a:cubicBezTo>
                    <a:pt x="0" y="142354"/>
                    <a:pt x="269886" y="183412"/>
                    <a:pt x="602806" y="183412"/>
                  </a:cubicBezTo>
                  <a:cubicBezTo>
                    <a:pt x="935727" y="183412"/>
                    <a:pt x="1205613" y="142354"/>
                    <a:pt x="1205613" y="91706"/>
                  </a:cubicBezTo>
                  <a:cubicBezTo>
                    <a:pt x="1205613" y="41058"/>
                    <a:pt x="935727" y="0"/>
                    <a:pt x="602806" y="0"/>
                  </a:cubicBezTo>
                  <a:close/>
                </a:path>
              </a:pathLst>
            </a:custGeom>
            <a:solidFill>
              <a:srgbClr val="A7C86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13026" y="-20905"/>
              <a:ext cx="979561" cy="1871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9986506" y="2546972"/>
            <a:ext cx="7915666" cy="9146253"/>
          </a:xfrm>
          <a:custGeom>
            <a:avLst/>
            <a:gdLst/>
            <a:ahLst/>
            <a:cxnLst/>
            <a:rect r="r" b="b" t="t" l="l"/>
            <a:pathLst>
              <a:path h="9146253" w="7915666">
                <a:moveTo>
                  <a:pt x="0" y="0"/>
                </a:moveTo>
                <a:lnTo>
                  <a:pt x="7915665" y="0"/>
                </a:lnTo>
                <a:lnTo>
                  <a:pt x="7915665" y="9146253"/>
                </a:lnTo>
                <a:lnTo>
                  <a:pt x="0" y="91462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911018" y="0"/>
            <a:ext cx="2696564" cy="2294531"/>
          </a:xfrm>
          <a:custGeom>
            <a:avLst/>
            <a:gdLst/>
            <a:ahLst/>
            <a:cxnLst/>
            <a:rect r="r" b="b" t="t" l="l"/>
            <a:pathLst>
              <a:path h="2294531" w="2696564">
                <a:moveTo>
                  <a:pt x="0" y="0"/>
                </a:moveTo>
                <a:lnTo>
                  <a:pt x="2696564" y="0"/>
                </a:lnTo>
                <a:lnTo>
                  <a:pt x="2696564" y="2294531"/>
                </a:lnTo>
                <a:lnTo>
                  <a:pt x="0" y="22945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3991927">
            <a:off x="-289694" y="-1768485"/>
            <a:ext cx="2700960" cy="3536971"/>
          </a:xfrm>
          <a:custGeom>
            <a:avLst/>
            <a:gdLst/>
            <a:ahLst/>
            <a:cxnLst/>
            <a:rect r="r" b="b" t="t" l="l"/>
            <a:pathLst>
              <a:path h="3536971" w="2700960">
                <a:moveTo>
                  <a:pt x="0" y="0"/>
                </a:moveTo>
                <a:lnTo>
                  <a:pt x="2700960" y="0"/>
                </a:lnTo>
                <a:lnTo>
                  <a:pt x="2700960" y="3536970"/>
                </a:lnTo>
                <a:lnTo>
                  <a:pt x="0" y="353697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430774" y="-219863"/>
            <a:ext cx="1050982" cy="1058682"/>
          </a:xfrm>
          <a:custGeom>
            <a:avLst/>
            <a:gdLst/>
            <a:ahLst/>
            <a:cxnLst/>
            <a:rect r="r" b="b" t="t" l="l"/>
            <a:pathLst>
              <a:path h="1058682" w="1050982">
                <a:moveTo>
                  <a:pt x="0" y="0"/>
                </a:moveTo>
                <a:lnTo>
                  <a:pt x="1050982" y="0"/>
                </a:lnTo>
                <a:lnTo>
                  <a:pt x="1050982" y="1058682"/>
                </a:lnTo>
                <a:lnTo>
                  <a:pt x="0" y="105868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605461" y="499359"/>
            <a:ext cx="1050982" cy="1058682"/>
          </a:xfrm>
          <a:custGeom>
            <a:avLst/>
            <a:gdLst/>
            <a:ahLst/>
            <a:cxnLst/>
            <a:rect r="r" b="b" t="t" l="l"/>
            <a:pathLst>
              <a:path h="1058682" w="1050982">
                <a:moveTo>
                  <a:pt x="0" y="0"/>
                </a:moveTo>
                <a:lnTo>
                  <a:pt x="1050983" y="0"/>
                </a:lnTo>
                <a:lnTo>
                  <a:pt x="1050983" y="1058682"/>
                </a:lnTo>
                <a:lnTo>
                  <a:pt x="0" y="105868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414394" y="8589820"/>
            <a:ext cx="2696564" cy="2294531"/>
          </a:xfrm>
          <a:custGeom>
            <a:avLst/>
            <a:gdLst/>
            <a:ahLst/>
            <a:cxnLst/>
            <a:rect r="r" b="b" t="t" l="l"/>
            <a:pathLst>
              <a:path h="2294531" w="2696564">
                <a:moveTo>
                  <a:pt x="0" y="0"/>
                </a:moveTo>
                <a:lnTo>
                  <a:pt x="2696564" y="0"/>
                </a:lnTo>
                <a:lnTo>
                  <a:pt x="2696564" y="2294531"/>
                </a:lnTo>
                <a:lnTo>
                  <a:pt x="0" y="229453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5" id="15"/>
          <p:cNvSpPr txBox="true"/>
          <p:nvPr/>
        </p:nvSpPr>
        <p:spPr>
          <a:xfrm rot="0">
            <a:off x="-115429" y="1691391"/>
            <a:ext cx="9375430" cy="2133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39"/>
              </a:lnSpc>
              <a:spcBef>
                <a:spcPct val="0"/>
              </a:spcBef>
            </a:pPr>
            <a:r>
              <a:rPr lang="en-US" sz="8139">
                <a:solidFill>
                  <a:srgbClr val="2A5F01"/>
                </a:solidFill>
                <a:latin typeface="Borsok"/>
                <a:ea typeface="Borsok"/>
                <a:cs typeface="Borsok"/>
                <a:sym typeface="Borsok"/>
              </a:rPr>
              <a:t>RESEARCH QUESTIONS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780781" y="3974497"/>
            <a:ext cx="5339897" cy="1034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5"/>
              </a:lnSpc>
            </a:pPr>
            <a:r>
              <a:rPr lang="en-US" sz="2685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How can clustering group foods by nutritional similarity?</a:t>
            </a:r>
          </a:p>
          <a:p>
            <a:pPr algn="l">
              <a:lnSpc>
                <a:spcPts val="2685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2780781" y="5030687"/>
            <a:ext cx="5694022" cy="1034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5"/>
              </a:lnSpc>
            </a:pPr>
            <a:r>
              <a:rPr lang="en-US" sz="2685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Can an LLM generate meal plans aligned with macro goals?</a:t>
            </a:r>
          </a:p>
          <a:p>
            <a:pPr algn="l">
              <a:lnSpc>
                <a:spcPts val="2685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2780781" y="6085750"/>
            <a:ext cx="5339897" cy="1034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5"/>
              </a:lnSpc>
            </a:pPr>
            <a:r>
              <a:rPr lang="en-US" sz="2685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How can we make it actionable for users?</a:t>
            </a:r>
          </a:p>
          <a:p>
            <a:pPr algn="l">
              <a:lnSpc>
                <a:spcPts val="2685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2EB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66166" y="-657648"/>
            <a:ext cx="20626303" cy="11602296"/>
          </a:xfrm>
          <a:custGeom>
            <a:avLst/>
            <a:gdLst/>
            <a:ahLst/>
            <a:cxnLst/>
            <a:rect r="r" b="b" t="t" l="l"/>
            <a:pathLst>
              <a:path h="11602296" w="20626303">
                <a:moveTo>
                  <a:pt x="0" y="0"/>
                </a:moveTo>
                <a:lnTo>
                  <a:pt x="20626304" y="0"/>
                </a:lnTo>
                <a:lnTo>
                  <a:pt x="20626304" y="11602296"/>
                </a:lnTo>
                <a:lnTo>
                  <a:pt x="0" y="11602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-1471460" y="-1932663"/>
            <a:ext cx="22236892" cy="5685680"/>
            <a:chOff x="0" y="0"/>
            <a:chExt cx="1862649" cy="47625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62649" cy="476255"/>
            </a:xfrm>
            <a:custGeom>
              <a:avLst/>
              <a:gdLst/>
              <a:ahLst/>
              <a:cxnLst/>
              <a:rect r="r" b="b" t="t" l="l"/>
              <a:pathLst>
                <a:path h="476255" w="1862649">
                  <a:moveTo>
                    <a:pt x="931325" y="0"/>
                  </a:moveTo>
                  <a:cubicBezTo>
                    <a:pt x="416968" y="0"/>
                    <a:pt x="0" y="106613"/>
                    <a:pt x="0" y="238127"/>
                  </a:cubicBezTo>
                  <a:cubicBezTo>
                    <a:pt x="0" y="369642"/>
                    <a:pt x="416968" y="476255"/>
                    <a:pt x="931325" y="476255"/>
                  </a:cubicBezTo>
                  <a:cubicBezTo>
                    <a:pt x="1445681" y="476255"/>
                    <a:pt x="1862649" y="369642"/>
                    <a:pt x="1862649" y="238127"/>
                  </a:cubicBezTo>
                  <a:cubicBezTo>
                    <a:pt x="1862649" y="106613"/>
                    <a:pt x="1445681" y="0"/>
                    <a:pt x="931325" y="0"/>
                  </a:cubicBezTo>
                  <a:close/>
                </a:path>
              </a:pathLst>
            </a:custGeom>
            <a:solidFill>
              <a:srgbClr val="A7C86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74623" y="6549"/>
              <a:ext cx="1513403" cy="425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3656444" y="-457726"/>
            <a:ext cx="2696564" cy="2294531"/>
          </a:xfrm>
          <a:custGeom>
            <a:avLst/>
            <a:gdLst/>
            <a:ahLst/>
            <a:cxnLst/>
            <a:rect r="r" b="b" t="t" l="l"/>
            <a:pathLst>
              <a:path h="2294531" w="2696564">
                <a:moveTo>
                  <a:pt x="0" y="0"/>
                </a:moveTo>
                <a:lnTo>
                  <a:pt x="2696564" y="0"/>
                </a:lnTo>
                <a:lnTo>
                  <a:pt x="2696564" y="2294531"/>
                </a:lnTo>
                <a:lnTo>
                  <a:pt x="0" y="22945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925345" y="689540"/>
            <a:ext cx="1770011" cy="1782978"/>
          </a:xfrm>
          <a:custGeom>
            <a:avLst/>
            <a:gdLst/>
            <a:ahLst/>
            <a:cxnLst/>
            <a:rect r="r" b="b" t="t" l="l"/>
            <a:pathLst>
              <a:path h="1782978" w="1770011">
                <a:moveTo>
                  <a:pt x="0" y="0"/>
                </a:moveTo>
                <a:lnTo>
                  <a:pt x="1770011" y="0"/>
                </a:lnTo>
                <a:lnTo>
                  <a:pt x="1770011" y="1782978"/>
                </a:lnTo>
                <a:lnTo>
                  <a:pt x="0" y="17829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695356" y="3941884"/>
            <a:ext cx="12010009" cy="5953582"/>
          </a:xfrm>
          <a:custGeom>
            <a:avLst/>
            <a:gdLst/>
            <a:ahLst/>
            <a:cxnLst/>
            <a:rect r="r" b="b" t="t" l="l"/>
            <a:pathLst>
              <a:path h="5953582" w="12010009">
                <a:moveTo>
                  <a:pt x="0" y="0"/>
                </a:moveTo>
                <a:lnTo>
                  <a:pt x="12010009" y="0"/>
                </a:lnTo>
                <a:lnTo>
                  <a:pt x="12010009" y="5953582"/>
                </a:lnTo>
                <a:lnTo>
                  <a:pt x="0" y="595358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825879" y="803840"/>
            <a:ext cx="8125928" cy="2619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50"/>
              </a:lnSpc>
              <a:spcBef>
                <a:spcPct val="0"/>
              </a:spcBef>
            </a:pPr>
            <a:r>
              <a:rPr lang="en-US" sz="6750">
                <a:solidFill>
                  <a:srgbClr val="FFFFFF"/>
                </a:solidFill>
                <a:latin typeface="Borsok"/>
                <a:ea typeface="Borsok"/>
                <a:cs typeface="Borsok"/>
                <a:sym typeface="Borsok"/>
              </a:rPr>
              <a:t>SYSTEM ARCHITECTURE OVERVIEW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2EB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69152" y="-829098"/>
            <a:ext cx="20626303" cy="11602296"/>
          </a:xfrm>
          <a:custGeom>
            <a:avLst/>
            <a:gdLst/>
            <a:ahLst/>
            <a:cxnLst/>
            <a:rect r="r" b="b" t="t" l="l"/>
            <a:pathLst>
              <a:path h="11602296" w="20626303">
                <a:moveTo>
                  <a:pt x="0" y="0"/>
                </a:moveTo>
                <a:lnTo>
                  <a:pt x="20626304" y="0"/>
                </a:lnTo>
                <a:lnTo>
                  <a:pt x="20626304" y="11602296"/>
                </a:lnTo>
                <a:lnTo>
                  <a:pt x="0" y="11602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-983214" y="8715798"/>
            <a:ext cx="20546265" cy="2555685"/>
            <a:chOff x="0" y="0"/>
            <a:chExt cx="1205613" cy="14996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05613" cy="149962"/>
            </a:xfrm>
            <a:custGeom>
              <a:avLst/>
              <a:gdLst/>
              <a:ahLst/>
              <a:cxnLst/>
              <a:rect r="r" b="b" t="t" l="l"/>
              <a:pathLst>
                <a:path h="149962" w="1205613">
                  <a:moveTo>
                    <a:pt x="602806" y="0"/>
                  </a:moveTo>
                  <a:cubicBezTo>
                    <a:pt x="269886" y="0"/>
                    <a:pt x="0" y="33570"/>
                    <a:pt x="0" y="74981"/>
                  </a:cubicBezTo>
                  <a:cubicBezTo>
                    <a:pt x="0" y="116392"/>
                    <a:pt x="269886" y="149962"/>
                    <a:pt x="602806" y="149962"/>
                  </a:cubicBezTo>
                  <a:cubicBezTo>
                    <a:pt x="935727" y="149962"/>
                    <a:pt x="1205613" y="116392"/>
                    <a:pt x="1205613" y="74981"/>
                  </a:cubicBezTo>
                  <a:cubicBezTo>
                    <a:pt x="1205613" y="33570"/>
                    <a:pt x="935727" y="0"/>
                    <a:pt x="602806" y="0"/>
                  </a:cubicBezTo>
                  <a:close/>
                </a:path>
              </a:pathLst>
            </a:custGeom>
            <a:solidFill>
              <a:srgbClr val="A7C86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13026" y="-24041"/>
              <a:ext cx="979561" cy="1599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1488061"/>
            <a:ext cx="9548903" cy="1291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89"/>
              </a:lnSpc>
              <a:spcBef>
                <a:spcPct val="0"/>
              </a:spcBef>
            </a:pPr>
            <a:r>
              <a:rPr lang="en-US" sz="9589">
                <a:solidFill>
                  <a:srgbClr val="2A5F01"/>
                </a:solidFill>
                <a:latin typeface="Borsok"/>
                <a:ea typeface="Borsok"/>
                <a:cs typeface="Borsok"/>
                <a:sym typeface="Borsok"/>
              </a:rPr>
              <a:t>DATA OVERVIEW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54399" y="6658398"/>
            <a:ext cx="4144945" cy="4114800"/>
          </a:xfrm>
          <a:custGeom>
            <a:avLst/>
            <a:gdLst/>
            <a:ahLst/>
            <a:cxnLst/>
            <a:rect r="r" b="b" t="t" l="l"/>
            <a:pathLst>
              <a:path h="4114800" w="4144945">
                <a:moveTo>
                  <a:pt x="0" y="0"/>
                </a:moveTo>
                <a:lnTo>
                  <a:pt x="4144945" y="0"/>
                </a:lnTo>
                <a:lnTo>
                  <a:pt x="414494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4275615">
            <a:off x="16206222" y="-1654533"/>
            <a:ext cx="2106155" cy="2758060"/>
          </a:xfrm>
          <a:custGeom>
            <a:avLst/>
            <a:gdLst/>
            <a:ahLst/>
            <a:cxnLst/>
            <a:rect r="r" b="b" t="t" l="l"/>
            <a:pathLst>
              <a:path h="2758060" w="2106155">
                <a:moveTo>
                  <a:pt x="0" y="0"/>
                </a:moveTo>
                <a:lnTo>
                  <a:pt x="2106156" y="0"/>
                </a:lnTo>
                <a:lnTo>
                  <a:pt x="2106156" y="2758061"/>
                </a:lnTo>
                <a:lnTo>
                  <a:pt x="0" y="27580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980232" y="3028313"/>
            <a:ext cx="12617065" cy="2601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36872" indent="-318436" lvl="1">
              <a:lnSpc>
                <a:spcPts val="4129"/>
              </a:lnSpc>
              <a:buFont typeface="Arial"/>
              <a:buChar char="•"/>
            </a:pPr>
            <a:r>
              <a:rPr lang="en-US" sz="2949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Primary </a:t>
            </a:r>
            <a:r>
              <a:rPr lang="en-US" sz="2949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S</a:t>
            </a:r>
            <a:r>
              <a:rPr lang="en-US" sz="2949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ource:</a:t>
            </a:r>
            <a:r>
              <a:rPr lang="en-US" sz="2949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 </a:t>
            </a:r>
            <a:r>
              <a:rPr lang="en-US" sz="2949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USDA FoodData Central </a:t>
            </a:r>
            <a:r>
              <a:rPr lang="en-US" sz="2949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API.</a:t>
            </a:r>
          </a:p>
          <a:p>
            <a:pPr algn="just" marL="636872" indent="-318436" lvl="1">
              <a:lnSpc>
                <a:spcPts val="4129"/>
              </a:lnSpc>
              <a:buFont typeface="Arial"/>
              <a:buChar char="•"/>
            </a:pPr>
            <a:r>
              <a:rPr lang="en-US" sz="2949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~20,000 it</a:t>
            </a:r>
            <a:r>
              <a:rPr lang="en-US" sz="2949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em</a:t>
            </a:r>
            <a:r>
              <a:rPr lang="en-US" sz="2949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s</a:t>
            </a:r>
            <a:r>
              <a:rPr lang="en-US" sz="2949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, r</a:t>
            </a:r>
            <a:r>
              <a:rPr lang="en-US" sz="2949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e</a:t>
            </a:r>
            <a:r>
              <a:rPr lang="en-US" sz="2949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duced</a:t>
            </a:r>
            <a:r>
              <a:rPr lang="en-US" sz="2949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 </a:t>
            </a:r>
            <a:r>
              <a:rPr lang="en-US" sz="2949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to </a:t>
            </a:r>
            <a:r>
              <a:rPr lang="en-US" sz="2949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19,000 </a:t>
            </a:r>
            <a:r>
              <a:rPr lang="en-US" sz="2949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cleaned fo</a:t>
            </a:r>
            <a:r>
              <a:rPr lang="en-US" sz="2949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o</a:t>
            </a:r>
            <a:r>
              <a:rPr lang="en-US" sz="2949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d</a:t>
            </a:r>
            <a:r>
              <a:rPr lang="en-US" sz="2949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 </a:t>
            </a:r>
            <a:r>
              <a:rPr lang="en-US" sz="2949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re</a:t>
            </a:r>
            <a:r>
              <a:rPr lang="en-US" sz="2949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co</a:t>
            </a:r>
            <a:r>
              <a:rPr lang="en-US" sz="2949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rd</a:t>
            </a:r>
            <a:r>
              <a:rPr lang="en-US" sz="2949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s.</a:t>
            </a:r>
          </a:p>
          <a:p>
            <a:pPr algn="just" marL="636872" indent="-318436" lvl="1">
              <a:lnSpc>
                <a:spcPts val="4129"/>
              </a:lnSpc>
              <a:buFont typeface="Arial"/>
              <a:buChar char="•"/>
            </a:pPr>
            <a:r>
              <a:rPr lang="en-US" sz="2949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Key </a:t>
            </a:r>
            <a:r>
              <a:rPr lang="en-US" sz="2949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Features:</a:t>
            </a:r>
            <a:r>
              <a:rPr lang="en-US" sz="2949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 c</a:t>
            </a:r>
            <a:r>
              <a:rPr lang="en-US" sz="2949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alories,</a:t>
            </a:r>
            <a:r>
              <a:rPr lang="en-US" sz="2949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 p</a:t>
            </a:r>
            <a:r>
              <a:rPr lang="en-US" sz="2949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rotein</a:t>
            </a:r>
            <a:r>
              <a:rPr lang="en-US" sz="2949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_g</a:t>
            </a:r>
            <a:r>
              <a:rPr lang="en-US" sz="2949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,</a:t>
            </a:r>
            <a:r>
              <a:rPr lang="en-US" sz="2949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 c</a:t>
            </a:r>
            <a:r>
              <a:rPr lang="en-US" sz="2949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arbs</a:t>
            </a:r>
            <a:r>
              <a:rPr lang="en-US" sz="2949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_g</a:t>
            </a:r>
            <a:r>
              <a:rPr lang="en-US" sz="2949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,</a:t>
            </a:r>
            <a:r>
              <a:rPr lang="en-US" sz="2949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 f</a:t>
            </a:r>
            <a:r>
              <a:rPr lang="en-US" sz="2949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at</a:t>
            </a:r>
            <a:r>
              <a:rPr lang="en-US" sz="2949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_g</a:t>
            </a:r>
            <a:r>
              <a:rPr lang="en-US" sz="2949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,</a:t>
            </a:r>
            <a:r>
              <a:rPr lang="en-US" sz="2949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 f</a:t>
            </a:r>
            <a:r>
              <a:rPr lang="en-US" sz="2949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iber</a:t>
            </a:r>
            <a:r>
              <a:rPr lang="en-US" sz="2949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_g.</a:t>
            </a:r>
          </a:p>
          <a:p>
            <a:pPr algn="just" marL="636872" indent="-318436" lvl="1">
              <a:lnSpc>
                <a:spcPts val="4129"/>
              </a:lnSpc>
              <a:buFont typeface="Arial"/>
              <a:buChar char="•"/>
            </a:pPr>
            <a:r>
              <a:rPr lang="en-US" sz="2949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Engineered</a:t>
            </a:r>
            <a:r>
              <a:rPr lang="en-US" sz="2949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 ratio</a:t>
            </a:r>
            <a:r>
              <a:rPr lang="en-US" sz="2949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s: calorie-to-protein, macro percentage</a:t>
            </a:r>
            <a:r>
              <a:rPr lang="en-US" sz="2949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s.</a:t>
            </a:r>
          </a:p>
          <a:p>
            <a:pPr algn="just" marL="0" indent="0" lvl="0">
              <a:lnSpc>
                <a:spcPts val="412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2EB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69152" y="-829098"/>
            <a:ext cx="20626303" cy="11602296"/>
          </a:xfrm>
          <a:custGeom>
            <a:avLst/>
            <a:gdLst/>
            <a:ahLst/>
            <a:cxnLst/>
            <a:rect r="r" b="b" t="t" l="l"/>
            <a:pathLst>
              <a:path h="11602296" w="20626303">
                <a:moveTo>
                  <a:pt x="0" y="0"/>
                </a:moveTo>
                <a:lnTo>
                  <a:pt x="20626304" y="0"/>
                </a:lnTo>
                <a:lnTo>
                  <a:pt x="20626304" y="11602296"/>
                </a:lnTo>
                <a:lnTo>
                  <a:pt x="0" y="11602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-983214" y="8715798"/>
            <a:ext cx="20546265" cy="2555685"/>
            <a:chOff x="0" y="0"/>
            <a:chExt cx="1205613" cy="14996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05613" cy="149962"/>
            </a:xfrm>
            <a:custGeom>
              <a:avLst/>
              <a:gdLst/>
              <a:ahLst/>
              <a:cxnLst/>
              <a:rect r="r" b="b" t="t" l="l"/>
              <a:pathLst>
                <a:path h="149962" w="1205613">
                  <a:moveTo>
                    <a:pt x="602806" y="0"/>
                  </a:moveTo>
                  <a:cubicBezTo>
                    <a:pt x="269886" y="0"/>
                    <a:pt x="0" y="33570"/>
                    <a:pt x="0" y="74981"/>
                  </a:cubicBezTo>
                  <a:cubicBezTo>
                    <a:pt x="0" y="116392"/>
                    <a:pt x="269886" y="149962"/>
                    <a:pt x="602806" y="149962"/>
                  </a:cubicBezTo>
                  <a:cubicBezTo>
                    <a:pt x="935727" y="149962"/>
                    <a:pt x="1205613" y="116392"/>
                    <a:pt x="1205613" y="74981"/>
                  </a:cubicBezTo>
                  <a:cubicBezTo>
                    <a:pt x="1205613" y="33570"/>
                    <a:pt x="935727" y="0"/>
                    <a:pt x="602806" y="0"/>
                  </a:cubicBezTo>
                  <a:close/>
                </a:path>
              </a:pathLst>
            </a:custGeom>
            <a:solidFill>
              <a:srgbClr val="A7C86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13026" y="-24041"/>
              <a:ext cx="979561" cy="1599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4275615">
            <a:off x="16206222" y="-1654533"/>
            <a:ext cx="2106155" cy="2758060"/>
          </a:xfrm>
          <a:custGeom>
            <a:avLst/>
            <a:gdLst/>
            <a:ahLst/>
            <a:cxnLst/>
            <a:rect r="r" b="b" t="t" l="l"/>
            <a:pathLst>
              <a:path h="2758060" w="2106155">
                <a:moveTo>
                  <a:pt x="0" y="0"/>
                </a:moveTo>
                <a:lnTo>
                  <a:pt x="2106156" y="0"/>
                </a:lnTo>
                <a:lnTo>
                  <a:pt x="2106156" y="2758061"/>
                </a:lnTo>
                <a:lnTo>
                  <a:pt x="0" y="27580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65802" y="7718343"/>
            <a:ext cx="2567331" cy="2275298"/>
          </a:xfrm>
          <a:custGeom>
            <a:avLst/>
            <a:gdLst/>
            <a:ahLst/>
            <a:cxnLst/>
            <a:rect r="r" b="b" t="t" l="l"/>
            <a:pathLst>
              <a:path h="2275298" w="2567331">
                <a:moveTo>
                  <a:pt x="0" y="0"/>
                </a:moveTo>
                <a:lnTo>
                  <a:pt x="2567332" y="0"/>
                </a:lnTo>
                <a:lnTo>
                  <a:pt x="2567332" y="2275297"/>
                </a:lnTo>
                <a:lnTo>
                  <a:pt x="0" y="22752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253930" y="3396807"/>
            <a:ext cx="14551671" cy="2282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01375" indent="-350688" lvl="1">
              <a:lnSpc>
                <a:spcPts val="4548"/>
              </a:lnSpc>
              <a:buFont typeface="Arial"/>
              <a:buChar char="•"/>
            </a:pPr>
            <a:r>
              <a:rPr lang="en-US" sz="3248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Dropped all-null c</a:t>
            </a:r>
            <a:r>
              <a:rPr lang="en-US" sz="3248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olumns (sugar_g)</a:t>
            </a:r>
          </a:p>
          <a:p>
            <a:pPr algn="just" marL="701375" indent="-350688" lvl="1">
              <a:lnSpc>
                <a:spcPts val="4548"/>
              </a:lnSpc>
              <a:buFont typeface="Arial"/>
              <a:buChar char="•"/>
            </a:pPr>
            <a:r>
              <a:rPr lang="en-US" sz="3248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Median</a:t>
            </a:r>
            <a:r>
              <a:rPr lang="en-US" sz="3248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 </a:t>
            </a:r>
            <a:r>
              <a:rPr lang="en-US" sz="3248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imputati</a:t>
            </a:r>
            <a:r>
              <a:rPr lang="en-US" sz="3248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on for partial missing values</a:t>
            </a:r>
          </a:p>
          <a:p>
            <a:pPr algn="just" marL="701375" indent="-350688" lvl="1">
              <a:lnSpc>
                <a:spcPts val="4548"/>
              </a:lnSpc>
              <a:buFont typeface="Arial"/>
              <a:buChar char="•"/>
            </a:pPr>
            <a:r>
              <a:rPr lang="en-US" sz="3248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Calor</a:t>
            </a:r>
            <a:r>
              <a:rPr lang="en-US" sz="3248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i</a:t>
            </a:r>
            <a:r>
              <a:rPr lang="en-US" sz="3248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e r</a:t>
            </a:r>
            <a:r>
              <a:rPr lang="en-US" sz="3248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e</a:t>
            </a:r>
            <a:r>
              <a:rPr lang="en-US" sz="3248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comput</a:t>
            </a:r>
            <a:r>
              <a:rPr lang="en-US" sz="3248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ati</a:t>
            </a:r>
            <a:r>
              <a:rPr lang="en-US" sz="3248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on fo</a:t>
            </a:r>
            <a:r>
              <a:rPr lang="en-US" sz="3248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rmula: </a:t>
            </a:r>
            <a:r>
              <a:rPr lang="en-US" sz="3248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Calories=4×(</a:t>
            </a:r>
            <a:r>
              <a:rPr lang="en-US" sz="3248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p</a:t>
            </a:r>
            <a:r>
              <a:rPr lang="en-US" sz="3248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rotein+</a:t>
            </a:r>
            <a:r>
              <a:rPr lang="en-US" sz="3248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c</a:t>
            </a:r>
            <a:r>
              <a:rPr lang="en-US" sz="3248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arbs)+9×</a:t>
            </a:r>
            <a:r>
              <a:rPr lang="en-US" sz="3248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f</a:t>
            </a:r>
            <a:r>
              <a:rPr lang="en-US" sz="3248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at</a:t>
            </a:r>
          </a:p>
          <a:p>
            <a:pPr algn="just" marL="701375" indent="-350688" lvl="1">
              <a:lnSpc>
                <a:spcPts val="4548"/>
              </a:lnSpc>
              <a:buFont typeface="Arial"/>
              <a:buChar char="•"/>
            </a:pPr>
            <a:r>
              <a:rPr lang="en-US" sz="3248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Scaled</a:t>
            </a:r>
            <a:r>
              <a:rPr lang="en-US" sz="3248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 </a:t>
            </a:r>
            <a:r>
              <a:rPr lang="en-US" sz="3248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us</a:t>
            </a:r>
            <a:r>
              <a:rPr lang="en-US" sz="3248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i</a:t>
            </a:r>
            <a:r>
              <a:rPr lang="en-US" sz="3248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ng</a:t>
            </a:r>
            <a:r>
              <a:rPr lang="en-US" sz="3248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 z-sco</a:t>
            </a:r>
            <a:r>
              <a:rPr lang="en-US" sz="3248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re</a:t>
            </a:r>
            <a:r>
              <a:rPr lang="en-US" sz="3248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 normalization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758065"/>
            <a:ext cx="13614931" cy="1151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89"/>
              </a:lnSpc>
              <a:spcBef>
                <a:spcPct val="0"/>
              </a:spcBef>
            </a:pPr>
            <a:r>
              <a:rPr lang="en-US" sz="8589">
                <a:solidFill>
                  <a:srgbClr val="2A5F01"/>
                </a:solidFill>
                <a:latin typeface="Borsok"/>
                <a:ea typeface="Borsok"/>
                <a:cs typeface="Borsok"/>
                <a:sym typeface="Borsok"/>
              </a:rPr>
              <a:t>DATA CLEANING PIPELINE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2EB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69152" y="-829098"/>
            <a:ext cx="20626303" cy="11602296"/>
          </a:xfrm>
          <a:custGeom>
            <a:avLst/>
            <a:gdLst/>
            <a:ahLst/>
            <a:cxnLst/>
            <a:rect r="r" b="b" t="t" l="l"/>
            <a:pathLst>
              <a:path h="11602296" w="20626303">
                <a:moveTo>
                  <a:pt x="0" y="0"/>
                </a:moveTo>
                <a:lnTo>
                  <a:pt x="20626304" y="0"/>
                </a:lnTo>
                <a:lnTo>
                  <a:pt x="20626304" y="11602296"/>
                </a:lnTo>
                <a:lnTo>
                  <a:pt x="0" y="11602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-983214" y="8715798"/>
            <a:ext cx="20546265" cy="2555685"/>
            <a:chOff x="0" y="0"/>
            <a:chExt cx="1205613" cy="14996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05613" cy="149962"/>
            </a:xfrm>
            <a:custGeom>
              <a:avLst/>
              <a:gdLst/>
              <a:ahLst/>
              <a:cxnLst/>
              <a:rect r="r" b="b" t="t" l="l"/>
              <a:pathLst>
                <a:path h="149962" w="1205613">
                  <a:moveTo>
                    <a:pt x="602806" y="0"/>
                  </a:moveTo>
                  <a:cubicBezTo>
                    <a:pt x="269886" y="0"/>
                    <a:pt x="0" y="33570"/>
                    <a:pt x="0" y="74981"/>
                  </a:cubicBezTo>
                  <a:cubicBezTo>
                    <a:pt x="0" y="116392"/>
                    <a:pt x="269886" y="149962"/>
                    <a:pt x="602806" y="149962"/>
                  </a:cubicBezTo>
                  <a:cubicBezTo>
                    <a:pt x="935727" y="149962"/>
                    <a:pt x="1205613" y="116392"/>
                    <a:pt x="1205613" y="74981"/>
                  </a:cubicBezTo>
                  <a:cubicBezTo>
                    <a:pt x="1205613" y="33570"/>
                    <a:pt x="935727" y="0"/>
                    <a:pt x="602806" y="0"/>
                  </a:cubicBezTo>
                  <a:close/>
                </a:path>
              </a:pathLst>
            </a:custGeom>
            <a:solidFill>
              <a:srgbClr val="A7C86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13026" y="-24041"/>
              <a:ext cx="979561" cy="1599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4275615">
            <a:off x="16206222" y="-1654533"/>
            <a:ext cx="2106155" cy="2758060"/>
          </a:xfrm>
          <a:custGeom>
            <a:avLst/>
            <a:gdLst/>
            <a:ahLst/>
            <a:cxnLst/>
            <a:rect r="r" b="b" t="t" l="l"/>
            <a:pathLst>
              <a:path h="2758060" w="2106155">
                <a:moveTo>
                  <a:pt x="0" y="0"/>
                </a:moveTo>
                <a:lnTo>
                  <a:pt x="2106156" y="0"/>
                </a:lnTo>
                <a:lnTo>
                  <a:pt x="2106156" y="2758061"/>
                </a:lnTo>
                <a:lnTo>
                  <a:pt x="0" y="27580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25295" y="2643260"/>
            <a:ext cx="5364385" cy="3418563"/>
          </a:xfrm>
          <a:custGeom>
            <a:avLst/>
            <a:gdLst/>
            <a:ahLst/>
            <a:cxnLst/>
            <a:rect r="r" b="b" t="t" l="l"/>
            <a:pathLst>
              <a:path h="3418563" w="5364385">
                <a:moveTo>
                  <a:pt x="0" y="0"/>
                </a:moveTo>
                <a:lnTo>
                  <a:pt x="5364385" y="0"/>
                </a:lnTo>
                <a:lnTo>
                  <a:pt x="5364385" y="3418563"/>
                </a:lnTo>
                <a:lnTo>
                  <a:pt x="0" y="34185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41" t="0" r="-741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393085" y="2643260"/>
            <a:ext cx="5501830" cy="3468545"/>
          </a:xfrm>
          <a:custGeom>
            <a:avLst/>
            <a:gdLst/>
            <a:ahLst/>
            <a:cxnLst/>
            <a:rect r="r" b="b" t="t" l="l"/>
            <a:pathLst>
              <a:path h="3468545" w="5501830">
                <a:moveTo>
                  <a:pt x="0" y="0"/>
                </a:moveTo>
                <a:lnTo>
                  <a:pt x="5501830" y="0"/>
                </a:lnTo>
                <a:lnTo>
                  <a:pt x="5501830" y="3468545"/>
                </a:lnTo>
                <a:lnTo>
                  <a:pt x="0" y="346854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273164" y="2643260"/>
            <a:ext cx="5556725" cy="3506067"/>
          </a:xfrm>
          <a:custGeom>
            <a:avLst/>
            <a:gdLst/>
            <a:ahLst/>
            <a:cxnLst/>
            <a:rect r="r" b="b" t="t" l="l"/>
            <a:pathLst>
              <a:path h="3506067" w="5556725">
                <a:moveTo>
                  <a:pt x="0" y="0"/>
                </a:moveTo>
                <a:lnTo>
                  <a:pt x="5556725" y="0"/>
                </a:lnTo>
                <a:lnTo>
                  <a:pt x="5556725" y="3506067"/>
                </a:lnTo>
                <a:lnTo>
                  <a:pt x="0" y="35060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2495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883762" y="6426130"/>
            <a:ext cx="5671703" cy="3702828"/>
          </a:xfrm>
          <a:custGeom>
            <a:avLst/>
            <a:gdLst/>
            <a:ahLst/>
            <a:cxnLst/>
            <a:rect r="r" b="b" t="t" l="l"/>
            <a:pathLst>
              <a:path h="3702828" w="5671703">
                <a:moveTo>
                  <a:pt x="0" y="0"/>
                </a:moveTo>
                <a:lnTo>
                  <a:pt x="5671703" y="0"/>
                </a:lnTo>
                <a:lnTo>
                  <a:pt x="5671703" y="3702828"/>
                </a:lnTo>
                <a:lnTo>
                  <a:pt x="0" y="370282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719755" y="6447018"/>
            <a:ext cx="5594780" cy="3681940"/>
          </a:xfrm>
          <a:custGeom>
            <a:avLst/>
            <a:gdLst/>
            <a:ahLst/>
            <a:cxnLst/>
            <a:rect r="r" b="b" t="t" l="l"/>
            <a:pathLst>
              <a:path h="3681940" w="5594780">
                <a:moveTo>
                  <a:pt x="0" y="0"/>
                </a:moveTo>
                <a:lnTo>
                  <a:pt x="5594780" y="0"/>
                </a:lnTo>
                <a:lnTo>
                  <a:pt x="5594780" y="3681940"/>
                </a:lnTo>
                <a:lnTo>
                  <a:pt x="0" y="368194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664094"/>
            <a:ext cx="16441685" cy="1702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89"/>
              </a:lnSpc>
            </a:pPr>
            <a:r>
              <a:rPr lang="en-US" sz="8589">
                <a:solidFill>
                  <a:srgbClr val="2A5F01"/>
                </a:solidFill>
                <a:latin typeface="Borsok"/>
                <a:ea typeface="Borsok"/>
                <a:cs typeface="Borsok"/>
                <a:sym typeface="Borsok"/>
              </a:rPr>
              <a:t>EDA</a:t>
            </a:r>
          </a:p>
          <a:p>
            <a:pPr algn="l" marL="0" indent="0" lvl="0">
              <a:lnSpc>
                <a:spcPts val="2499"/>
              </a:lnSpc>
              <a:spcBef>
                <a:spcPct val="0"/>
              </a:spcBef>
            </a:pPr>
            <a:r>
              <a:rPr lang="en-US" b="true" sz="2499">
                <a:solidFill>
                  <a:srgbClr val="7F994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All nutrient distributions are right-skewed, showing that most foods are low in calories, fat, carbs, protein, and fiber, with a few high-value outliers.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2EB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69152" y="-829098"/>
            <a:ext cx="20626303" cy="11602296"/>
          </a:xfrm>
          <a:custGeom>
            <a:avLst/>
            <a:gdLst/>
            <a:ahLst/>
            <a:cxnLst/>
            <a:rect r="r" b="b" t="t" l="l"/>
            <a:pathLst>
              <a:path h="11602296" w="20626303">
                <a:moveTo>
                  <a:pt x="0" y="0"/>
                </a:moveTo>
                <a:lnTo>
                  <a:pt x="20626304" y="0"/>
                </a:lnTo>
                <a:lnTo>
                  <a:pt x="20626304" y="11602296"/>
                </a:lnTo>
                <a:lnTo>
                  <a:pt x="0" y="11602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4275615">
            <a:off x="16206222" y="-1654533"/>
            <a:ext cx="2106155" cy="2758060"/>
          </a:xfrm>
          <a:custGeom>
            <a:avLst/>
            <a:gdLst/>
            <a:ahLst/>
            <a:cxnLst/>
            <a:rect r="r" b="b" t="t" l="l"/>
            <a:pathLst>
              <a:path h="2758060" w="2106155">
                <a:moveTo>
                  <a:pt x="0" y="0"/>
                </a:moveTo>
                <a:lnTo>
                  <a:pt x="2106156" y="0"/>
                </a:lnTo>
                <a:lnTo>
                  <a:pt x="2106156" y="2758061"/>
                </a:lnTo>
                <a:lnTo>
                  <a:pt x="0" y="27580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10852" y="2419085"/>
            <a:ext cx="17400159" cy="5118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548"/>
              </a:lnSpc>
              <a:spcBef>
                <a:spcPct val="0"/>
              </a:spcBef>
            </a:pPr>
            <a:r>
              <a:rPr lang="en-US" sz="3248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       </a:t>
            </a:r>
            <a:r>
              <a:rPr lang="en-US" b="true" sz="3248">
                <a:solidFill>
                  <a:srgbClr val="2A5F01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   </a:t>
            </a:r>
            <a:r>
              <a:rPr lang="en-US" b="true" sz="3248" strike="noStrike" u="none">
                <a:solidFill>
                  <a:srgbClr val="2A5F01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Before Cleaning:   </a:t>
            </a:r>
            <a:r>
              <a:rPr lang="en-US" sz="3248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                               </a:t>
            </a:r>
            <a:r>
              <a:rPr lang="en-US" b="true" sz="3248" strike="noStrike" u="none">
                <a:solidFill>
                  <a:srgbClr val="2A5F01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After Cleaning:</a:t>
            </a:r>
          </a:p>
          <a:p>
            <a:pPr algn="just" marL="0" indent="0" lvl="0">
              <a:lnSpc>
                <a:spcPts val="4548"/>
              </a:lnSpc>
              <a:spcBef>
                <a:spcPct val="0"/>
              </a:spcBef>
            </a:pPr>
            <a:r>
              <a:rPr lang="en-US" sz="3248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Outliers distorted variance (one               Compact, balanced distribution.</a:t>
            </a:r>
          </a:p>
          <a:p>
            <a:pPr algn="just" marL="0" indent="0" lvl="0">
              <a:lnSpc>
                <a:spcPts val="4548"/>
              </a:lnSpc>
              <a:spcBef>
                <a:spcPct val="0"/>
              </a:spcBef>
            </a:pPr>
            <a:r>
              <a:rPr lang="en-US" sz="3248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extreme point).</a:t>
            </a:r>
          </a:p>
          <a:p>
            <a:pPr algn="l" marL="0" indent="0" lvl="0">
              <a:lnSpc>
                <a:spcPts val="4548"/>
              </a:lnSpc>
              <a:spcBef>
                <a:spcPct val="0"/>
              </a:spcBef>
            </a:pPr>
            <a:r>
              <a:rPr lang="en-US" sz="3248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Data heavily skewed by high-calorie         Nutrient patterns clearly visible for             foods.                                           </a:t>
            </a:r>
            <a:r>
              <a:rPr lang="en-US" sz="3248" strike="noStrike" u="none">
                <a:solidFill>
                  <a:srgbClr val="E4EAFF"/>
                </a:solidFill>
                <a:latin typeface="Playpen Sans"/>
                <a:ea typeface="Playpen Sans"/>
                <a:cs typeface="Playpen Sans"/>
                <a:sym typeface="Playpen Sans"/>
              </a:rPr>
              <a:t>s</a:t>
            </a:r>
            <a:r>
              <a:rPr lang="en-US" sz="3248" strike="noStrike" u="none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clustering.</a:t>
            </a:r>
          </a:p>
          <a:p>
            <a:pPr algn="just" marL="0" indent="0" lvl="0">
              <a:lnSpc>
                <a:spcPts val="4548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4548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4548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4548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486079" y="5356422"/>
            <a:ext cx="6183664" cy="4801138"/>
          </a:xfrm>
          <a:custGeom>
            <a:avLst/>
            <a:gdLst/>
            <a:ahLst/>
            <a:cxnLst/>
            <a:rect r="r" b="b" t="t" l="l"/>
            <a:pathLst>
              <a:path h="4801138" w="6183664">
                <a:moveTo>
                  <a:pt x="0" y="0"/>
                </a:moveTo>
                <a:lnTo>
                  <a:pt x="6183664" y="0"/>
                </a:lnTo>
                <a:lnTo>
                  <a:pt x="6183664" y="4801138"/>
                </a:lnTo>
                <a:lnTo>
                  <a:pt x="0" y="48011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429937" y="5356422"/>
            <a:ext cx="6111685" cy="4801138"/>
          </a:xfrm>
          <a:custGeom>
            <a:avLst/>
            <a:gdLst/>
            <a:ahLst/>
            <a:cxnLst/>
            <a:rect r="r" b="b" t="t" l="l"/>
            <a:pathLst>
              <a:path h="4801138" w="6111685">
                <a:moveTo>
                  <a:pt x="0" y="0"/>
                </a:moveTo>
                <a:lnTo>
                  <a:pt x="6111685" y="0"/>
                </a:lnTo>
                <a:lnTo>
                  <a:pt x="6111685" y="4801138"/>
                </a:lnTo>
                <a:lnTo>
                  <a:pt x="0" y="480113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181100"/>
            <a:ext cx="13614931" cy="1151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89"/>
              </a:lnSpc>
              <a:spcBef>
                <a:spcPct val="0"/>
              </a:spcBef>
            </a:pPr>
            <a:r>
              <a:rPr lang="en-US" sz="8589">
                <a:solidFill>
                  <a:srgbClr val="2A5F01"/>
                </a:solidFill>
                <a:latin typeface="Borsok"/>
                <a:ea typeface="Borsok"/>
                <a:cs typeface="Borsok"/>
                <a:sym typeface="Borsok"/>
              </a:rPr>
              <a:t>PCA ANALYSIS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2EB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69152" y="-829098"/>
            <a:ext cx="20626303" cy="11602296"/>
          </a:xfrm>
          <a:custGeom>
            <a:avLst/>
            <a:gdLst/>
            <a:ahLst/>
            <a:cxnLst/>
            <a:rect r="r" b="b" t="t" l="l"/>
            <a:pathLst>
              <a:path h="11602296" w="20626303">
                <a:moveTo>
                  <a:pt x="0" y="0"/>
                </a:moveTo>
                <a:lnTo>
                  <a:pt x="20626304" y="0"/>
                </a:lnTo>
                <a:lnTo>
                  <a:pt x="20626304" y="11602296"/>
                </a:lnTo>
                <a:lnTo>
                  <a:pt x="0" y="11602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4275615">
            <a:off x="16206222" y="-1654533"/>
            <a:ext cx="2106155" cy="2758060"/>
          </a:xfrm>
          <a:custGeom>
            <a:avLst/>
            <a:gdLst/>
            <a:ahLst/>
            <a:cxnLst/>
            <a:rect r="r" b="b" t="t" l="l"/>
            <a:pathLst>
              <a:path h="2758060" w="2106155">
                <a:moveTo>
                  <a:pt x="0" y="0"/>
                </a:moveTo>
                <a:lnTo>
                  <a:pt x="2106156" y="0"/>
                </a:lnTo>
                <a:lnTo>
                  <a:pt x="2106156" y="2758061"/>
                </a:lnTo>
                <a:lnTo>
                  <a:pt x="0" y="27580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610764" y="2332733"/>
            <a:ext cx="9467346" cy="6449894"/>
          </a:xfrm>
          <a:custGeom>
            <a:avLst/>
            <a:gdLst/>
            <a:ahLst/>
            <a:cxnLst/>
            <a:rect r="r" b="b" t="t" l="l"/>
            <a:pathLst>
              <a:path h="6449894" w="9467346">
                <a:moveTo>
                  <a:pt x="0" y="0"/>
                </a:moveTo>
                <a:lnTo>
                  <a:pt x="9467346" y="0"/>
                </a:lnTo>
                <a:lnTo>
                  <a:pt x="9467346" y="6449894"/>
                </a:lnTo>
                <a:lnTo>
                  <a:pt x="0" y="64498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424" t="0" r="0" b="-7374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181100"/>
            <a:ext cx="13614931" cy="1151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89"/>
              </a:lnSpc>
              <a:spcBef>
                <a:spcPct val="0"/>
              </a:spcBef>
            </a:pPr>
            <a:r>
              <a:rPr lang="en-US" sz="8589">
                <a:solidFill>
                  <a:srgbClr val="2A5F01"/>
                </a:solidFill>
                <a:latin typeface="Borsok"/>
                <a:ea typeface="Borsok"/>
                <a:cs typeface="Borsok"/>
                <a:sym typeface="Borsok"/>
              </a:rPr>
              <a:t>CORRELATION HEATMAP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87945" y="4143424"/>
            <a:ext cx="4642310" cy="3370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6"/>
              </a:lnSpc>
              <a:spcBef>
                <a:spcPct val="0"/>
              </a:spcBef>
            </a:pPr>
            <a:r>
              <a:rPr lang="en-US" sz="3336">
                <a:solidFill>
                  <a:srgbClr val="408000"/>
                </a:solidFill>
                <a:latin typeface="Playpen Sans"/>
                <a:ea typeface="Playpen Sans"/>
                <a:cs typeface="Playpen Sans"/>
                <a:sym typeface="Playpen Sans"/>
              </a:rPr>
              <a:t>Calories show strong positive correlations with fat (r ≈ 0.76) and carbs (r ≈ 0.71), indicating these nutrients are the main contributors to energy content.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2EB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69152" y="-829098"/>
            <a:ext cx="20626303" cy="11602296"/>
          </a:xfrm>
          <a:custGeom>
            <a:avLst/>
            <a:gdLst/>
            <a:ahLst/>
            <a:cxnLst/>
            <a:rect r="r" b="b" t="t" l="l"/>
            <a:pathLst>
              <a:path h="11602296" w="20626303">
                <a:moveTo>
                  <a:pt x="0" y="0"/>
                </a:moveTo>
                <a:lnTo>
                  <a:pt x="20626304" y="0"/>
                </a:lnTo>
                <a:lnTo>
                  <a:pt x="20626304" y="11602296"/>
                </a:lnTo>
                <a:lnTo>
                  <a:pt x="0" y="11602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146138" y="2920750"/>
            <a:ext cx="9060933" cy="2260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8"/>
              </a:lnSpc>
            </a:pPr>
            <a:r>
              <a:rPr lang="en-US" sz="3248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Evaluated model quality using:</a:t>
            </a:r>
          </a:p>
          <a:p>
            <a:pPr algn="just" marL="701375" indent="-350687" lvl="1">
              <a:lnSpc>
                <a:spcPts val="4548"/>
              </a:lnSpc>
              <a:buFont typeface="Arial"/>
              <a:buChar char="•"/>
            </a:pPr>
            <a:r>
              <a:rPr lang="en-US" sz="3248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Silhouette Score </a:t>
            </a:r>
          </a:p>
          <a:p>
            <a:pPr algn="just" marL="701375" indent="-350687" lvl="1">
              <a:lnSpc>
                <a:spcPts val="4548"/>
              </a:lnSpc>
              <a:buFont typeface="Arial"/>
              <a:buChar char="•"/>
            </a:pPr>
            <a:r>
              <a:rPr lang="en-US" sz="3248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Elbow Method</a:t>
            </a:r>
          </a:p>
          <a:p>
            <a:pPr algn="just">
              <a:lnSpc>
                <a:spcPts val="4548"/>
              </a:lnSpc>
            </a:pPr>
            <a:r>
              <a:rPr lang="en-US" sz="3248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Final choice: K-Means with k = 4 clusters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8460509" y="5476009"/>
            <a:ext cx="9147817" cy="3987128"/>
          </a:xfrm>
          <a:custGeom>
            <a:avLst/>
            <a:gdLst/>
            <a:ahLst/>
            <a:cxnLst/>
            <a:rect r="r" b="b" t="t" l="l"/>
            <a:pathLst>
              <a:path h="3987128" w="9147817">
                <a:moveTo>
                  <a:pt x="0" y="0"/>
                </a:moveTo>
                <a:lnTo>
                  <a:pt x="9147817" y="0"/>
                </a:lnTo>
                <a:lnTo>
                  <a:pt x="9147817" y="3987128"/>
                </a:lnTo>
                <a:lnTo>
                  <a:pt x="0" y="39871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07" t="-1633" r="-2411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80769" y="5309755"/>
            <a:ext cx="7299125" cy="4319637"/>
          </a:xfrm>
          <a:custGeom>
            <a:avLst/>
            <a:gdLst/>
            <a:ahLst/>
            <a:cxnLst/>
            <a:rect r="r" b="b" t="t" l="l"/>
            <a:pathLst>
              <a:path h="4319637" w="7299125">
                <a:moveTo>
                  <a:pt x="0" y="0"/>
                </a:moveTo>
                <a:lnTo>
                  <a:pt x="7299124" y="0"/>
                </a:lnTo>
                <a:lnTo>
                  <a:pt x="7299124" y="4319636"/>
                </a:lnTo>
                <a:lnTo>
                  <a:pt x="0" y="43196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5961" r="-1141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143000"/>
            <a:ext cx="13614931" cy="183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90"/>
              </a:lnSpc>
              <a:spcBef>
                <a:spcPct val="0"/>
              </a:spcBef>
            </a:pPr>
            <a:r>
              <a:rPr lang="en-US" sz="6990">
                <a:solidFill>
                  <a:srgbClr val="2A5F01"/>
                </a:solidFill>
                <a:latin typeface="Borsok"/>
                <a:ea typeface="Borsok"/>
                <a:cs typeface="Borsok"/>
                <a:sym typeface="Borsok"/>
              </a:rPr>
              <a:t>MODELING APPROACH &amp; CLUSTER INSIGHTS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2EB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50102" y="-829098"/>
            <a:ext cx="20626303" cy="11602296"/>
          </a:xfrm>
          <a:custGeom>
            <a:avLst/>
            <a:gdLst/>
            <a:ahLst/>
            <a:cxnLst/>
            <a:rect r="r" b="b" t="t" l="l"/>
            <a:pathLst>
              <a:path h="11602296" w="20626303">
                <a:moveTo>
                  <a:pt x="0" y="0"/>
                </a:moveTo>
                <a:lnTo>
                  <a:pt x="20626304" y="0"/>
                </a:lnTo>
                <a:lnTo>
                  <a:pt x="20626304" y="11602296"/>
                </a:lnTo>
                <a:lnTo>
                  <a:pt x="0" y="11602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aphicFrame>
        <p:nvGraphicFramePr>
          <p:cNvPr name="Object 3" id="3"/>
          <p:cNvGraphicFramePr/>
          <p:nvPr/>
        </p:nvGraphicFramePr>
        <p:xfrm>
          <a:off x="3663733" y="2945602"/>
          <a:ext cx="13201650" cy="3143250"/>
        </p:xfrm>
        <a:graphic>
          <a:graphicData uri="http://schemas.openxmlformats.org/presentationml/2006/ole">
            <p:oleObj imgW="15836900" imgH="57785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1028700" y="1143000"/>
            <a:ext cx="13614931" cy="94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90"/>
              </a:lnSpc>
              <a:spcBef>
                <a:spcPct val="0"/>
              </a:spcBef>
            </a:pPr>
            <a:r>
              <a:rPr lang="en-US" sz="6990">
                <a:solidFill>
                  <a:srgbClr val="2A5F01"/>
                </a:solidFill>
                <a:latin typeface="Borsok"/>
                <a:ea typeface="Borsok"/>
                <a:cs typeface="Borsok"/>
                <a:sym typeface="Borsok"/>
              </a:rPr>
              <a:t>FINAL CLUSTERS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978822"/>
            <a:ext cx="15661118" cy="864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  <a:spcBef>
                <a:spcPct val="0"/>
              </a:spcBef>
            </a:pPr>
            <a:r>
              <a:rPr lang="en-US" sz="3300">
                <a:solidFill>
                  <a:srgbClr val="408000"/>
                </a:solidFill>
                <a:latin typeface="Playpen Sans"/>
                <a:ea typeface="Playpen Sans"/>
                <a:cs typeface="Playpen Sans"/>
                <a:sym typeface="Playpen Sans"/>
              </a:rPr>
              <a:t>Cluster names were assigned based on the mean nutrient values within each cluster, reflecting their dominant nutritional characteristics.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2EB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59627" y="-829098"/>
            <a:ext cx="20626303" cy="11602296"/>
          </a:xfrm>
          <a:custGeom>
            <a:avLst/>
            <a:gdLst/>
            <a:ahLst/>
            <a:cxnLst/>
            <a:rect r="r" b="b" t="t" l="l"/>
            <a:pathLst>
              <a:path h="11602296" w="20626303">
                <a:moveTo>
                  <a:pt x="0" y="0"/>
                </a:moveTo>
                <a:lnTo>
                  <a:pt x="20626304" y="0"/>
                </a:lnTo>
                <a:lnTo>
                  <a:pt x="20626304" y="11602296"/>
                </a:lnTo>
                <a:lnTo>
                  <a:pt x="0" y="11602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3876748" y="2092075"/>
            <a:ext cx="3620425" cy="5120602"/>
          </a:xfrm>
          <a:custGeom>
            <a:avLst/>
            <a:gdLst/>
            <a:ahLst/>
            <a:cxnLst/>
            <a:rect r="r" b="b" t="t" l="l"/>
            <a:pathLst>
              <a:path h="5120602" w="3620425">
                <a:moveTo>
                  <a:pt x="0" y="0"/>
                </a:moveTo>
                <a:lnTo>
                  <a:pt x="3620425" y="0"/>
                </a:lnTo>
                <a:lnTo>
                  <a:pt x="3620425" y="5120602"/>
                </a:lnTo>
                <a:lnTo>
                  <a:pt x="0" y="51206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143000"/>
            <a:ext cx="13614931" cy="94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90"/>
              </a:lnSpc>
              <a:spcBef>
                <a:spcPct val="0"/>
              </a:spcBef>
            </a:pPr>
            <a:r>
              <a:rPr lang="en-US" sz="6990">
                <a:solidFill>
                  <a:srgbClr val="2A5F01"/>
                </a:solidFill>
                <a:latin typeface="Borsok"/>
                <a:ea typeface="Borsok"/>
                <a:cs typeface="Borsok"/>
                <a:sym typeface="Borsok"/>
              </a:rPr>
              <a:t>INTEGRATION WITH LLM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98606" y="2841607"/>
            <a:ext cx="12390632" cy="4546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1375" indent="-350687" lvl="1">
              <a:lnSpc>
                <a:spcPts val="4548"/>
              </a:lnSpc>
              <a:buFont typeface="Arial"/>
              <a:buChar char="•"/>
            </a:pPr>
            <a:r>
              <a:rPr lang="en-US" sz="3248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Used structured prompt containi</a:t>
            </a:r>
            <a:r>
              <a:rPr lang="en-US" sz="3248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ng</a:t>
            </a:r>
            <a:r>
              <a:rPr lang="en-US" sz="3248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 cluster stats + calorie targets + age group + use preference.</a:t>
            </a:r>
          </a:p>
          <a:p>
            <a:pPr algn="l" marL="701375" indent="-350687" lvl="1">
              <a:lnSpc>
                <a:spcPts val="4548"/>
              </a:lnSpc>
              <a:buFont typeface="Arial"/>
              <a:buChar char="•"/>
            </a:pPr>
            <a:r>
              <a:rPr lang="en-US" sz="3248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LLM generated:</a:t>
            </a:r>
          </a:p>
          <a:p>
            <a:pPr algn="l">
              <a:lnSpc>
                <a:spcPts val="4548"/>
              </a:lnSpc>
            </a:pPr>
            <a:r>
              <a:rPr lang="en-US" sz="3248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          </a:t>
            </a:r>
            <a:r>
              <a:rPr lang="en-US" sz="3248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3 meals per day.</a:t>
            </a:r>
          </a:p>
          <a:p>
            <a:pPr algn="l">
              <a:lnSpc>
                <a:spcPts val="4548"/>
              </a:lnSpc>
            </a:pPr>
            <a:r>
              <a:rPr lang="en-US" sz="3248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          </a:t>
            </a:r>
            <a:r>
              <a:rPr lang="en-US" sz="3248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Recipe descriptions, Grocery list.</a:t>
            </a:r>
          </a:p>
          <a:p>
            <a:pPr algn="l">
              <a:lnSpc>
                <a:spcPts val="4548"/>
              </a:lnSpc>
            </a:pPr>
            <a:r>
              <a:rPr lang="en-US" sz="3248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          Macro details.</a:t>
            </a:r>
          </a:p>
          <a:p>
            <a:pPr algn="l" marL="701375" indent="-350687" lvl="1">
              <a:lnSpc>
                <a:spcPts val="4548"/>
              </a:lnSpc>
              <a:buFont typeface="Arial"/>
              <a:buChar char="•"/>
            </a:pPr>
            <a:r>
              <a:rPr lang="en-US" sz="3248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Ens</a:t>
            </a:r>
            <a:r>
              <a:rPr lang="en-US" sz="3248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ures contextual consistency with nutrition data.</a:t>
            </a:r>
          </a:p>
          <a:p>
            <a:pPr algn="just" marL="0" indent="0" lvl="0">
              <a:lnSpc>
                <a:spcPts val="454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2EB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69152" y="-657648"/>
            <a:ext cx="20626303" cy="11602296"/>
          </a:xfrm>
          <a:custGeom>
            <a:avLst/>
            <a:gdLst/>
            <a:ahLst/>
            <a:cxnLst/>
            <a:rect r="r" b="b" t="t" l="l"/>
            <a:pathLst>
              <a:path h="11602296" w="20626303">
                <a:moveTo>
                  <a:pt x="0" y="0"/>
                </a:moveTo>
                <a:lnTo>
                  <a:pt x="20626304" y="0"/>
                </a:lnTo>
                <a:lnTo>
                  <a:pt x="20626304" y="11602296"/>
                </a:lnTo>
                <a:lnTo>
                  <a:pt x="0" y="11602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89265">
            <a:off x="14696161" y="-1233725"/>
            <a:ext cx="5263116" cy="4114800"/>
          </a:xfrm>
          <a:custGeom>
            <a:avLst/>
            <a:gdLst/>
            <a:ahLst/>
            <a:cxnLst/>
            <a:rect r="r" b="b" t="t" l="l"/>
            <a:pathLst>
              <a:path h="4114800" w="5263116">
                <a:moveTo>
                  <a:pt x="0" y="0"/>
                </a:moveTo>
                <a:lnTo>
                  <a:pt x="5263116" y="0"/>
                </a:lnTo>
                <a:lnTo>
                  <a:pt x="52631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97119" y="2158750"/>
            <a:ext cx="16230600" cy="6389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748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Frontend                                  Core Application &amp; Orchestration</a:t>
            </a:r>
          </a:p>
          <a:p>
            <a:pPr algn="l">
              <a:lnSpc>
                <a:spcPts val="2638"/>
              </a:lnSpc>
            </a:pPr>
            <a:r>
              <a:rPr lang="en-US" sz="2748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────────────                ──────────────</a:t>
            </a:r>
          </a:p>
          <a:p>
            <a:pPr algn="l">
              <a:lnSpc>
                <a:spcPts val="2638"/>
              </a:lnSpc>
            </a:pPr>
            <a:r>
              <a:rPr lang="en-US" sz="2748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                                              </a:t>
            </a:r>
          </a:p>
          <a:p>
            <a:pPr algn="l">
              <a:lnSpc>
                <a:spcPts val="2638"/>
              </a:lnSpc>
            </a:pPr>
            <a:r>
              <a:rPr lang="en-US" sz="2748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 </a:t>
            </a:r>
          </a:p>
          <a:p>
            <a:pPr algn="l">
              <a:lnSpc>
                <a:spcPts val="2638"/>
              </a:lnSpc>
            </a:pPr>
            <a:r>
              <a:rPr lang="en-US" sz="2748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 </a:t>
            </a:r>
          </a:p>
          <a:p>
            <a:pPr algn="l">
              <a:lnSpc>
                <a:spcPts val="3118"/>
              </a:lnSpc>
            </a:pPr>
          </a:p>
          <a:p>
            <a:pPr algn="l">
              <a:lnSpc>
                <a:spcPts val="3118"/>
              </a:lnSpc>
            </a:pPr>
          </a:p>
          <a:p>
            <a:pPr algn="l">
              <a:lnSpc>
                <a:spcPts val="2640"/>
              </a:lnSpc>
            </a:pPr>
            <a:r>
              <a:rPr lang="en-US" sz="2750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Machine Learning &amp; LLM               Visualization</a:t>
            </a:r>
          </a:p>
          <a:p>
            <a:pPr algn="l">
              <a:lnSpc>
                <a:spcPts val="3118"/>
              </a:lnSpc>
            </a:pPr>
            <a:r>
              <a:rPr lang="en-US" sz="3248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────────────         ────────────</a:t>
            </a:r>
          </a:p>
          <a:p>
            <a:pPr algn="l">
              <a:lnSpc>
                <a:spcPts val="2640"/>
              </a:lnSpc>
            </a:pPr>
            <a:r>
              <a:rPr lang="en-US" sz="2750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 </a:t>
            </a:r>
          </a:p>
          <a:p>
            <a:pPr algn="l">
              <a:lnSpc>
                <a:spcPts val="2640"/>
              </a:lnSpc>
            </a:pPr>
          </a:p>
          <a:p>
            <a:pPr algn="l">
              <a:lnSpc>
                <a:spcPts val="2640"/>
              </a:lnSpc>
            </a:pPr>
          </a:p>
          <a:p>
            <a:pPr algn="l">
              <a:lnSpc>
                <a:spcPts val="2640"/>
              </a:lnSpc>
            </a:pPr>
          </a:p>
          <a:p>
            <a:pPr algn="l">
              <a:lnSpc>
                <a:spcPts val="2640"/>
              </a:lnSpc>
            </a:pPr>
          </a:p>
          <a:p>
            <a:pPr algn="l">
              <a:lnSpc>
                <a:spcPts val="1584"/>
              </a:lnSpc>
            </a:pPr>
            <a:r>
              <a:rPr lang="en-US" sz="1650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                       </a:t>
            </a:r>
            <a:r>
              <a:rPr lang="en-US" sz="1650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LLaMA 3 via Ollama</a:t>
            </a:r>
          </a:p>
          <a:p>
            <a:pPr algn="l">
              <a:lnSpc>
                <a:spcPts val="2640"/>
              </a:lnSpc>
            </a:pPr>
          </a:p>
          <a:p>
            <a:pPr algn="l">
              <a:lnSpc>
                <a:spcPts val="2640"/>
              </a:lnSpc>
            </a:pPr>
            <a:r>
              <a:rPr lang="en-US" sz="2750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Data Source</a:t>
            </a:r>
          </a:p>
          <a:p>
            <a:pPr algn="l">
              <a:lnSpc>
                <a:spcPts val="2640"/>
              </a:lnSpc>
            </a:pPr>
            <a:r>
              <a:rPr lang="en-US" sz="2750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────────────</a:t>
            </a:r>
          </a:p>
          <a:p>
            <a:pPr algn="l">
              <a:lnSpc>
                <a:spcPts val="2640"/>
              </a:lnSpc>
            </a:pPr>
            <a:r>
              <a:rPr lang="en-US" sz="2750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           FoodData Central API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97119" y="2819266"/>
            <a:ext cx="2170866" cy="1325481"/>
          </a:xfrm>
          <a:custGeom>
            <a:avLst/>
            <a:gdLst/>
            <a:ahLst/>
            <a:cxnLst/>
            <a:rect r="r" b="b" t="t" l="l"/>
            <a:pathLst>
              <a:path h="1325481" w="2170866">
                <a:moveTo>
                  <a:pt x="0" y="0"/>
                </a:moveTo>
                <a:lnTo>
                  <a:pt x="2170866" y="0"/>
                </a:lnTo>
                <a:lnTo>
                  <a:pt x="2170866" y="1325481"/>
                </a:lnTo>
                <a:lnTo>
                  <a:pt x="0" y="13254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33708" r="0" b="-30071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683352" y="2819266"/>
            <a:ext cx="1529068" cy="1529068"/>
          </a:xfrm>
          <a:custGeom>
            <a:avLst/>
            <a:gdLst/>
            <a:ahLst/>
            <a:cxnLst/>
            <a:rect r="r" b="b" t="t" l="l"/>
            <a:pathLst>
              <a:path h="1529068" w="1529068">
                <a:moveTo>
                  <a:pt x="0" y="0"/>
                </a:moveTo>
                <a:lnTo>
                  <a:pt x="1529067" y="0"/>
                </a:lnTo>
                <a:lnTo>
                  <a:pt x="1529067" y="1529068"/>
                </a:lnTo>
                <a:lnTo>
                  <a:pt x="0" y="15290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97119" y="5294835"/>
            <a:ext cx="1529068" cy="1529068"/>
          </a:xfrm>
          <a:custGeom>
            <a:avLst/>
            <a:gdLst/>
            <a:ahLst/>
            <a:cxnLst/>
            <a:rect r="r" b="b" t="t" l="l"/>
            <a:pathLst>
              <a:path h="1529068" w="1529068">
                <a:moveTo>
                  <a:pt x="0" y="0"/>
                </a:moveTo>
                <a:lnTo>
                  <a:pt x="1529068" y="0"/>
                </a:lnTo>
                <a:lnTo>
                  <a:pt x="1529068" y="1529067"/>
                </a:lnTo>
                <a:lnTo>
                  <a:pt x="0" y="15290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694545" y="5553716"/>
            <a:ext cx="3316640" cy="1143072"/>
          </a:xfrm>
          <a:custGeom>
            <a:avLst/>
            <a:gdLst/>
            <a:ahLst/>
            <a:cxnLst/>
            <a:rect r="r" b="b" t="t" l="l"/>
            <a:pathLst>
              <a:path h="1143072" w="3316640">
                <a:moveTo>
                  <a:pt x="0" y="0"/>
                </a:moveTo>
                <a:lnTo>
                  <a:pt x="3316640" y="0"/>
                </a:lnTo>
                <a:lnTo>
                  <a:pt x="3316640" y="1143072"/>
                </a:lnTo>
                <a:lnTo>
                  <a:pt x="0" y="114307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683352" y="5294835"/>
            <a:ext cx="1529068" cy="1529068"/>
          </a:xfrm>
          <a:custGeom>
            <a:avLst/>
            <a:gdLst/>
            <a:ahLst/>
            <a:cxnLst/>
            <a:rect r="r" b="b" t="t" l="l"/>
            <a:pathLst>
              <a:path h="1529068" w="1529068">
                <a:moveTo>
                  <a:pt x="0" y="0"/>
                </a:moveTo>
                <a:lnTo>
                  <a:pt x="1529067" y="0"/>
                </a:lnTo>
                <a:lnTo>
                  <a:pt x="1529067" y="1529067"/>
                </a:lnTo>
                <a:lnTo>
                  <a:pt x="0" y="152906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83003" y="8276723"/>
            <a:ext cx="1443184" cy="981577"/>
          </a:xfrm>
          <a:custGeom>
            <a:avLst/>
            <a:gdLst/>
            <a:ahLst/>
            <a:cxnLst/>
            <a:rect r="r" b="b" t="t" l="l"/>
            <a:pathLst>
              <a:path h="981577" w="1443184">
                <a:moveTo>
                  <a:pt x="0" y="0"/>
                </a:moveTo>
                <a:lnTo>
                  <a:pt x="1443184" y="0"/>
                </a:lnTo>
                <a:lnTo>
                  <a:pt x="1443184" y="981577"/>
                </a:lnTo>
                <a:lnTo>
                  <a:pt x="0" y="98157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1143000"/>
            <a:ext cx="13614931" cy="94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90"/>
              </a:lnSpc>
              <a:spcBef>
                <a:spcPct val="0"/>
              </a:spcBef>
            </a:pPr>
            <a:r>
              <a:rPr lang="en-US" sz="6990">
                <a:solidFill>
                  <a:srgbClr val="2A5F01"/>
                </a:solidFill>
                <a:latin typeface="Borsok"/>
                <a:ea typeface="Borsok"/>
                <a:cs typeface="Borsok"/>
                <a:sym typeface="Borsok"/>
              </a:rPr>
              <a:t>TECH STACK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07657" y="9169365"/>
            <a:ext cx="9525" cy="54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2EB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69152" y="-829098"/>
            <a:ext cx="20626303" cy="11602296"/>
          </a:xfrm>
          <a:custGeom>
            <a:avLst/>
            <a:gdLst/>
            <a:ahLst/>
            <a:cxnLst/>
            <a:rect r="r" b="b" t="t" l="l"/>
            <a:pathLst>
              <a:path h="11602296" w="20626303">
                <a:moveTo>
                  <a:pt x="0" y="0"/>
                </a:moveTo>
                <a:lnTo>
                  <a:pt x="20626304" y="0"/>
                </a:lnTo>
                <a:lnTo>
                  <a:pt x="20626304" y="11602296"/>
                </a:lnTo>
                <a:lnTo>
                  <a:pt x="0" y="11602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3150947" y="3484885"/>
            <a:ext cx="11986106" cy="6802115"/>
          </a:xfrm>
          <a:custGeom>
            <a:avLst/>
            <a:gdLst/>
            <a:ahLst/>
            <a:cxnLst/>
            <a:rect r="r" b="b" t="t" l="l"/>
            <a:pathLst>
              <a:path h="6802115" w="11986106">
                <a:moveTo>
                  <a:pt x="0" y="0"/>
                </a:moveTo>
                <a:lnTo>
                  <a:pt x="11986106" y="0"/>
                </a:lnTo>
                <a:lnTo>
                  <a:pt x="11986106" y="6802115"/>
                </a:lnTo>
                <a:lnTo>
                  <a:pt x="0" y="68021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143000"/>
            <a:ext cx="13614931" cy="94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90"/>
              </a:lnSpc>
              <a:spcBef>
                <a:spcPct val="0"/>
              </a:spcBef>
            </a:pPr>
            <a:r>
              <a:rPr lang="en-US" sz="6990">
                <a:solidFill>
                  <a:srgbClr val="2A5F01"/>
                </a:solidFill>
                <a:latin typeface="Borsok"/>
                <a:ea typeface="Borsok"/>
                <a:cs typeface="Borsok"/>
                <a:sym typeface="Borsok"/>
              </a:rPr>
              <a:t>STREAMLIT WEB APP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33316" y="2034925"/>
            <a:ext cx="12390632" cy="168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1375" indent="-350687" lvl="1">
              <a:lnSpc>
                <a:spcPts val="4548"/>
              </a:lnSpc>
              <a:buFont typeface="Arial"/>
              <a:buChar char="•"/>
            </a:pPr>
            <a:r>
              <a:rPr lang="en-US" sz="3248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Built interactive dashboard for user-friendly planning.</a:t>
            </a:r>
          </a:p>
          <a:p>
            <a:pPr algn="l" marL="701375" indent="-350687" lvl="1">
              <a:lnSpc>
                <a:spcPts val="4548"/>
              </a:lnSpc>
              <a:buFont typeface="Arial"/>
              <a:buChar char="•"/>
            </a:pPr>
            <a:r>
              <a:rPr lang="en-US" sz="3248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Generates visual macros with Plotly.</a:t>
            </a:r>
          </a:p>
          <a:p>
            <a:pPr algn="just" marL="0" indent="0" lvl="0">
              <a:lnSpc>
                <a:spcPts val="454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2EB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69152" y="-829098"/>
            <a:ext cx="20626303" cy="11602296"/>
          </a:xfrm>
          <a:custGeom>
            <a:avLst/>
            <a:gdLst/>
            <a:ahLst/>
            <a:cxnLst/>
            <a:rect r="r" b="b" t="t" l="l"/>
            <a:pathLst>
              <a:path h="11602296" w="20626303">
                <a:moveTo>
                  <a:pt x="0" y="0"/>
                </a:moveTo>
                <a:lnTo>
                  <a:pt x="20626304" y="0"/>
                </a:lnTo>
                <a:lnTo>
                  <a:pt x="20626304" y="11602296"/>
                </a:lnTo>
                <a:lnTo>
                  <a:pt x="0" y="11602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0" y="8416021"/>
            <a:ext cx="5263116" cy="4114800"/>
          </a:xfrm>
          <a:custGeom>
            <a:avLst/>
            <a:gdLst/>
            <a:ahLst/>
            <a:cxnLst/>
            <a:rect r="r" b="b" t="t" l="l"/>
            <a:pathLst>
              <a:path h="4114800" w="5263116">
                <a:moveTo>
                  <a:pt x="0" y="0"/>
                </a:moveTo>
                <a:lnTo>
                  <a:pt x="5263116" y="0"/>
                </a:lnTo>
                <a:lnTo>
                  <a:pt x="52631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51843" y="1615563"/>
            <a:ext cx="6226358" cy="94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90"/>
              </a:lnSpc>
              <a:spcBef>
                <a:spcPct val="0"/>
              </a:spcBef>
            </a:pPr>
            <a:r>
              <a:rPr lang="en-US" sz="6990">
                <a:solidFill>
                  <a:srgbClr val="2A5F01"/>
                </a:solidFill>
                <a:latin typeface="Borsok"/>
                <a:ea typeface="Borsok"/>
                <a:cs typeface="Borsok"/>
                <a:sym typeface="Borsok"/>
              </a:rPr>
              <a:t>APPLICATIONS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652290"/>
            <a:ext cx="8084258" cy="2260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1375" indent="-350687" lvl="1">
              <a:lnSpc>
                <a:spcPts val="4548"/>
              </a:lnSpc>
              <a:buFont typeface="Arial"/>
              <a:buChar char="•"/>
            </a:pPr>
            <a:r>
              <a:rPr lang="en-US" sz="3248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Personal &amp; fitness nutrition apps</a:t>
            </a:r>
          </a:p>
          <a:p>
            <a:pPr algn="l" marL="701375" indent="-350687" lvl="1">
              <a:lnSpc>
                <a:spcPts val="4548"/>
              </a:lnSpc>
              <a:buFont typeface="Arial"/>
              <a:buChar char="•"/>
            </a:pPr>
            <a:r>
              <a:rPr lang="en-US" sz="3248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Healthcare diet planning</a:t>
            </a:r>
          </a:p>
          <a:p>
            <a:pPr algn="l" marL="701375" indent="-350687" lvl="1">
              <a:lnSpc>
                <a:spcPts val="4548"/>
              </a:lnSpc>
              <a:buFont typeface="Arial"/>
              <a:buChar char="•"/>
            </a:pPr>
            <a:r>
              <a:rPr lang="en-US" sz="3248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Wellness and lifestyle platforms</a:t>
            </a:r>
          </a:p>
          <a:p>
            <a:pPr algn="just" marL="0" indent="0" lvl="0">
              <a:lnSpc>
                <a:spcPts val="4548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305949" y="1760365"/>
            <a:ext cx="5352008" cy="94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0"/>
              </a:lnSpc>
              <a:spcBef>
                <a:spcPct val="0"/>
              </a:spcBef>
            </a:pPr>
            <a:r>
              <a:rPr lang="en-US" sz="6990">
                <a:solidFill>
                  <a:srgbClr val="2A5F01"/>
                </a:solidFill>
                <a:latin typeface="Borsok"/>
                <a:ea typeface="Borsok"/>
                <a:cs typeface="Borsok"/>
                <a:sym typeface="Borsok"/>
              </a:rPr>
              <a:t>LIMITATIONS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305949" y="2652290"/>
            <a:ext cx="7399811" cy="2260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1375" indent="-350687" lvl="1">
              <a:lnSpc>
                <a:spcPts val="4548"/>
              </a:lnSpc>
              <a:buFont typeface="Arial"/>
              <a:buChar char="•"/>
            </a:pPr>
            <a:r>
              <a:rPr lang="en-US" sz="3248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Limited to USDA foods</a:t>
            </a:r>
          </a:p>
          <a:p>
            <a:pPr algn="l" marL="701375" indent="-350687" lvl="1">
              <a:lnSpc>
                <a:spcPts val="4548"/>
              </a:lnSpc>
              <a:buFont typeface="Arial"/>
              <a:buChar char="•"/>
            </a:pPr>
            <a:r>
              <a:rPr lang="en-US" sz="3248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Macros only, no micronutrients</a:t>
            </a:r>
          </a:p>
          <a:p>
            <a:pPr algn="l" marL="701375" indent="-350687" lvl="1">
              <a:lnSpc>
                <a:spcPts val="4548"/>
              </a:lnSpc>
              <a:buFont typeface="Arial"/>
              <a:buChar char="•"/>
            </a:pPr>
            <a:r>
              <a:rPr lang="en-US" sz="3248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LLM</a:t>
            </a:r>
            <a:r>
              <a:rPr lang="en-US" sz="3248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 portion estimates may vary</a:t>
            </a:r>
          </a:p>
          <a:p>
            <a:pPr algn="just" marL="0" indent="0" lvl="0">
              <a:lnSpc>
                <a:spcPts val="4548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151843" y="5694190"/>
            <a:ext cx="7716376" cy="888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56"/>
              </a:lnSpc>
              <a:spcBef>
                <a:spcPct val="0"/>
              </a:spcBef>
            </a:pPr>
            <a:r>
              <a:rPr lang="en-US" sz="6556">
                <a:solidFill>
                  <a:srgbClr val="2A5F01"/>
                </a:solidFill>
                <a:latin typeface="Borsok"/>
                <a:ea typeface="Borsok"/>
                <a:cs typeface="Borsok"/>
                <a:sym typeface="Borsok"/>
              </a:rPr>
              <a:t>LESSONS LEARNED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6667976"/>
            <a:ext cx="8557001" cy="168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1375" indent="-350687" lvl="1">
              <a:lnSpc>
                <a:spcPts val="4548"/>
              </a:lnSpc>
              <a:buFont typeface="Arial"/>
              <a:buChar char="•"/>
            </a:pPr>
            <a:r>
              <a:rPr lang="en-US" sz="3248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Cleaning &amp; scaling = better clustering</a:t>
            </a:r>
          </a:p>
          <a:p>
            <a:pPr algn="l" marL="701375" indent="-350687" lvl="1">
              <a:lnSpc>
                <a:spcPts val="4548"/>
              </a:lnSpc>
              <a:buFont typeface="Arial"/>
              <a:buChar char="•"/>
            </a:pPr>
            <a:r>
              <a:rPr lang="en-US" sz="3248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ML + LLMs → human-like nutrition insights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305949" y="5694190"/>
            <a:ext cx="7716376" cy="888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56"/>
              </a:lnSpc>
              <a:spcBef>
                <a:spcPct val="0"/>
              </a:spcBef>
            </a:pPr>
            <a:r>
              <a:rPr lang="en-US" sz="6556">
                <a:solidFill>
                  <a:srgbClr val="2A5F01"/>
                </a:solidFill>
                <a:latin typeface="Borsok"/>
                <a:ea typeface="Borsok"/>
                <a:cs typeface="Borsok"/>
                <a:sym typeface="Borsok"/>
              </a:rPr>
              <a:t>FUTURE WORK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305949" y="6525101"/>
            <a:ext cx="6453485" cy="2260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1375" indent="-350687" lvl="1">
              <a:lnSpc>
                <a:spcPts val="4548"/>
              </a:lnSpc>
              <a:buFont typeface="Arial"/>
              <a:buChar char="•"/>
            </a:pPr>
            <a:r>
              <a:rPr lang="en-US" sz="3248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Add global food data</a:t>
            </a:r>
          </a:p>
          <a:p>
            <a:pPr algn="l" marL="701375" indent="-350687" lvl="1">
              <a:lnSpc>
                <a:spcPts val="4548"/>
              </a:lnSpc>
              <a:buFont typeface="Arial"/>
              <a:buChar char="•"/>
            </a:pPr>
            <a:r>
              <a:rPr lang="en-US" sz="3248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Streamlit cloud deployment</a:t>
            </a:r>
          </a:p>
          <a:p>
            <a:pPr algn="l" marL="701375" indent="-350687" lvl="1">
              <a:lnSpc>
                <a:spcPts val="4548"/>
              </a:lnSpc>
              <a:buFont typeface="Arial"/>
              <a:buChar char="•"/>
            </a:pPr>
            <a:r>
              <a:rPr lang="en-US" sz="3248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User feedback &amp; mobile app</a:t>
            </a:r>
          </a:p>
          <a:p>
            <a:pPr algn="l" marL="701375" indent="-350687" lvl="1">
              <a:lnSpc>
                <a:spcPts val="4548"/>
              </a:lnSpc>
              <a:buFont typeface="Arial"/>
              <a:buChar char="•"/>
            </a:pPr>
            <a:r>
              <a:rPr lang="en-US" sz="3248">
                <a:solidFill>
                  <a:srgbClr val="2A5F01"/>
                </a:solidFill>
                <a:latin typeface="Playpen Sans"/>
                <a:ea typeface="Playpen Sans"/>
                <a:cs typeface="Playpen Sans"/>
                <a:sym typeface="Playpen Sans"/>
              </a:rPr>
              <a:t>Fine-tune LLM for nutrition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2EB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69152" y="-829098"/>
            <a:ext cx="20626303" cy="11602296"/>
          </a:xfrm>
          <a:custGeom>
            <a:avLst/>
            <a:gdLst/>
            <a:ahLst/>
            <a:cxnLst/>
            <a:rect r="r" b="b" t="t" l="l"/>
            <a:pathLst>
              <a:path h="11602296" w="20626303">
                <a:moveTo>
                  <a:pt x="0" y="0"/>
                </a:moveTo>
                <a:lnTo>
                  <a:pt x="20626304" y="0"/>
                </a:lnTo>
                <a:lnTo>
                  <a:pt x="20626304" y="11602296"/>
                </a:lnTo>
                <a:lnTo>
                  <a:pt x="0" y="11602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6394184" y="4194425"/>
            <a:ext cx="5499631" cy="94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90"/>
              </a:lnSpc>
              <a:spcBef>
                <a:spcPct val="0"/>
              </a:spcBef>
            </a:pPr>
            <a:r>
              <a:rPr lang="en-US" sz="6990">
                <a:solidFill>
                  <a:srgbClr val="2A5F01"/>
                </a:solidFill>
                <a:latin typeface="Borsok"/>
                <a:ea typeface="Borsok"/>
                <a:cs typeface="Borsok"/>
                <a:sym typeface="Borsok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DAG4KIlM1Zc</dc:identifier>
  <dcterms:modified xsi:type="dcterms:W3CDTF">2011-08-01T06:04:30Z</dcterms:modified>
  <cp:revision>1</cp:revision>
  <dc:title>AI-Powered Personalized Meal Planner</dc:title>
</cp:coreProperties>
</file>